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3" r:id="rId4"/>
    <p:sldId id="258" r:id="rId5"/>
    <p:sldId id="274" r:id="rId6"/>
    <p:sldId id="259" r:id="rId7"/>
    <p:sldId id="261" r:id="rId8"/>
    <p:sldId id="275" r:id="rId9"/>
    <p:sldId id="262" r:id="rId10"/>
    <p:sldId id="263" r:id="rId11"/>
    <p:sldId id="276" r:id="rId12"/>
    <p:sldId id="264" r:id="rId13"/>
    <p:sldId id="265" r:id="rId14"/>
    <p:sldId id="266" r:id="rId15"/>
    <p:sldId id="267" r:id="rId16"/>
    <p:sldId id="268" r:id="rId17"/>
    <p:sldId id="269" r:id="rId18"/>
    <p:sldId id="277" r:id="rId19"/>
    <p:sldId id="278" r:id="rId20"/>
    <p:sldId id="279" r:id="rId21"/>
    <p:sldId id="280" r:id="rId22"/>
    <p:sldId id="281" r:id="rId23"/>
    <p:sldId id="282" r:id="rId24"/>
    <p:sldId id="270" r:id="rId25"/>
    <p:sldId id="271" r:id="rId26"/>
    <p:sldId id="288" r:id="rId27"/>
    <p:sldId id="289" r:id="rId28"/>
    <p:sldId id="290" r:id="rId29"/>
    <p:sldId id="291" r:id="rId30"/>
    <p:sldId id="292" r:id="rId31"/>
    <p:sldId id="293" r:id="rId32"/>
    <p:sldId id="294" r:id="rId33"/>
    <p:sldId id="295" r:id="rId34"/>
    <p:sldId id="296" r:id="rId35"/>
    <p:sldId id="283" r:id="rId36"/>
    <p:sldId id="272" r:id="rId37"/>
    <p:sldId id="285"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hyperlink" Target="https://www.linkedin.com/in/sriramanani-srirama-pichaiah-"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72377" y="1143000"/>
            <a:ext cx="6216766" cy="584775"/>
          </a:xfrm>
          <a:prstGeom prst="rect">
            <a:avLst/>
          </a:prstGeom>
          <a:noFill/>
        </p:spPr>
        <p:txBody>
          <a:bodyPr wrap="none">
            <a:spAutoFit/>
          </a:bodyPr>
          <a:lstStyle/>
          <a:p>
            <a:pPr algn="ctr">
              <a:defRPr sz="3200"/>
            </a:pPr>
            <a:r>
              <a:rPr lang="en-IN" b="1" dirty="0">
                <a:latin typeface="Algerian" panose="04020705040A02060702" pitchFamily="82" charset="0"/>
                <a:cs typeface="Times New Roman" panose="02020603050405020304" pitchFamily="18" charset="0"/>
              </a:rPr>
              <a:t>SOUL PAGE GENAI ASSIGNMENT</a:t>
            </a:r>
          </a:p>
        </p:txBody>
      </p:sp>
      <p:sp>
        <p:nvSpPr>
          <p:cNvPr id="3" name="TextBox 2"/>
          <p:cNvSpPr txBox="1"/>
          <p:nvPr/>
        </p:nvSpPr>
        <p:spPr>
          <a:xfrm>
            <a:off x="2389428" y="2651760"/>
            <a:ext cx="7382663" cy="830997"/>
          </a:xfrm>
          <a:prstGeom prst="rect">
            <a:avLst/>
          </a:prstGeom>
          <a:noFill/>
        </p:spPr>
        <p:txBody>
          <a:bodyPr wrap="none">
            <a:spAutoFit/>
          </a:bodyPr>
          <a:lstStyle/>
          <a:p>
            <a:pPr algn="ctr">
              <a:defRPr sz="1900"/>
            </a:pPr>
            <a:r>
              <a:rPr sz="2400" b="1" dirty="0">
                <a:solidFill>
                  <a:schemeClr val="accent1"/>
                </a:solidFill>
                <a:latin typeface="Arial Rounded MT Bold" panose="020F0704030504030204" pitchFamily="34" charset="0"/>
              </a:rPr>
              <a:t>Technical Project Architecture &amp; Representation</a:t>
            </a:r>
            <a:br>
              <a:rPr sz="2400" b="1" dirty="0">
                <a:solidFill>
                  <a:schemeClr val="accent1"/>
                </a:solidFill>
                <a:latin typeface="Arial Rounded MT Bold" panose="020F0704030504030204" pitchFamily="34" charset="0"/>
              </a:rPr>
            </a:br>
            <a:r>
              <a:rPr sz="2400" b="1" dirty="0">
                <a:solidFill>
                  <a:schemeClr val="accent1"/>
                </a:solidFill>
                <a:latin typeface="Arial Rounded MT Bold" panose="020F0704030504030204" pitchFamily="34" charset="0"/>
              </a:rPr>
              <a:t>Prepared by </a:t>
            </a:r>
            <a:r>
              <a:rPr sz="2400" b="1" dirty="0">
                <a:solidFill>
                  <a:schemeClr val="accent5"/>
                </a:solidFill>
                <a:latin typeface="Arial Rounded MT Bold" panose="020F0704030504030204" pitchFamily="34" charset="0"/>
              </a:rPr>
              <a:t>Sri Ram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3486980" cy="507831"/>
          </a:xfrm>
          <a:prstGeom prst="rect">
            <a:avLst/>
          </a:prstGeom>
          <a:noFill/>
        </p:spPr>
        <p:txBody>
          <a:bodyPr wrap="none">
            <a:spAutoFit/>
          </a:bodyPr>
          <a:lstStyle/>
          <a:p>
            <a:pPr>
              <a:defRPr sz="2700"/>
            </a:pPr>
            <a:r>
              <a:rPr b="1" dirty="0">
                <a:latin typeface="Times New Roman" panose="02020603050405020304" pitchFamily="18" charset="0"/>
                <a:cs typeface="Times New Roman" panose="02020603050405020304" pitchFamily="18" charset="0"/>
              </a:rPr>
              <a:t>1. Problem &amp; Solution</a:t>
            </a:r>
          </a:p>
        </p:txBody>
      </p:sp>
      <p:sp>
        <p:nvSpPr>
          <p:cNvPr id="3" name="TextBox 2"/>
          <p:cNvSpPr txBox="1"/>
          <p:nvPr/>
        </p:nvSpPr>
        <p:spPr>
          <a:xfrm>
            <a:off x="830826" y="832744"/>
            <a:ext cx="10698480" cy="5705216"/>
          </a:xfrm>
          <a:prstGeom prst="rect">
            <a:avLst/>
          </a:prstGeom>
          <a:noFill/>
        </p:spPr>
        <p:txBody>
          <a:bodyPr wrap="square">
            <a:spAutoFit/>
          </a:bodyPr>
          <a:lstStyle/>
          <a:p>
            <a:pPr marL="342900" indent="-342900" algn="just">
              <a:lnSpc>
                <a:spcPct val="150000"/>
              </a:lnSpc>
              <a:spcAft>
                <a:spcPts val="1000"/>
              </a:spcAft>
              <a:buFont typeface="Wingdings" panose="05000000000000000000" pitchFamily="2" charset="2"/>
              <a:buChar char="q"/>
              <a:defRPr sz="1700"/>
            </a:pPr>
            <a:r>
              <a:rPr lang="en-IN" sz="2000" b="1" dirty="0">
                <a:latin typeface="Times New Roman" panose="02020603050405020304" pitchFamily="18" charset="0"/>
                <a:cs typeface="Times New Roman" panose="02020603050405020304" pitchFamily="18" charset="0"/>
              </a:rPr>
              <a:t>Goal:</a:t>
            </a:r>
            <a:r>
              <a:rPr lang="en-IN" sz="2000" dirty="0">
                <a:latin typeface="Times New Roman" panose="02020603050405020304" pitchFamily="18" charset="0"/>
                <a:cs typeface="Times New Roman" panose="02020603050405020304" pitchFamily="18" charset="0"/>
              </a:rPr>
              <a:t> Build and demonstrate a practical GenAI application where </a:t>
            </a:r>
            <a:r>
              <a:rPr lang="en-IN" sz="2000" b="1" dirty="0">
                <a:latin typeface="Times New Roman" panose="02020603050405020304" pitchFamily="18" charset="0"/>
                <a:cs typeface="Times New Roman" panose="02020603050405020304" pitchFamily="18" charset="0"/>
              </a:rPr>
              <a:t>specialized agents collaborate, external tools provide real-time information, memory maintains conversational context, retrieval supplies supporting knowledge, and an LLM abstraction layer enables flexible model-provider integration</a:t>
            </a:r>
            <a:r>
              <a:rPr lang="en-IN" sz="2000" dirty="0">
                <a:latin typeface="Times New Roman" panose="02020603050405020304" pitchFamily="18" charset="0"/>
                <a:cs typeface="Times New Roman" panose="02020603050405020304" pitchFamily="18" charset="0"/>
              </a:rPr>
              <a:t>. The architecture is designed to be modular, maintainable, traceable, and resilient through a provider fallback mechanism.</a:t>
            </a:r>
          </a:p>
          <a:p>
            <a:pPr marL="342900" indent="-342900" algn="just">
              <a:lnSpc>
                <a:spcPct val="150000"/>
              </a:lnSpc>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Solution:</a:t>
            </a:r>
            <a:r>
              <a:rPr lang="en-IN" sz="2000" dirty="0">
                <a:latin typeface="Times New Roman" panose="02020603050405020304" pitchFamily="18" charset="0"/>
                <a:cs typeface="Times New Roman" panose="02020603050405020304" pitchFamily="18" charset="0"/>
              </a:rPr>
              <a:t> Develop two integrated GenAI workflows that address different but complementary use 	cases:</a:t>
            </a:r>
          </a:p>
          <a:p>
            <a:pPr lvl="0" algn="just">
              <a:lnSpc>
                <a:spcPct val="150000"/>
              </a:lnSpc>
            </a:pPr>
            <a:r>
              <a:rPr lang="en-IN" sz="2000" b="1" dirty="0">
                <a:latin typeface="Times New Roman" panose="02020603050405020304" pitchFamily="18" charset="0"/>
                <a:cs typeface="Times New Roman" panose="02020603050405020304" pitchFamily="18" charset="0"/>
              </a:rPr>
              <a:t>     	Company Intelligence System</a:t>
            </a:r>
            <a:r>
              <a:rPr lang="en-IN" sz="2000" dirty="0">
                <a:latin typeface="Times New Roman" panose="02020603050405020304" pitchFamily="18" charset="0"/>
                <a:cs typeface="Times New Roman" panose="02020603050405020304" pitchFamily="18" charset="0"/>
              </a:rPr>
              <a:t> — uses a controller, specialized data-collection agent, external 	tools, shared state, and an analyst agent to collect and synthesize company information into a 	structured report. </a:t>
            </a:r>
          </a:p>
          <a:p>
            <a:pPr lvl="0" algn="just">
              <a:lnSpc>
                <a:spcPct val="150000"/>
              </a:lnSpc>
            </a:pPr>
            <a:r>
              <a:rPr lang="en-IN" sz="2000" b="1" dirty="0">
                <a:latin typeface="Times New Roman" panose="02020603050405020304" pitchFamily="18" charset="0"/>
                <a:cs typeface="Times New Roman" panose="02020603050405020304" pitchFamily="18" charset="0"/>
              </a:rPr>
              <a:t>    	Conversational Knowledge Bot</a:t>
            </a:r>
            <a:r>
              <a:rPr lang="en-IN" sz="2000" dirty="0">
                <a:latin typeface="Times New Roman" panose="02020603050405020304" pitchFamily="18" charset="0"/>
                <a:cs typeface="Times New Roman" panose="02020603050405020304" pitchFamily="18" charset="0"/>
              </a:rPr>
              <a:t> — uses conversation memory, query/context resolution, 	knowledge search, and an LLM to provide context-aware responses with supporting sources.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DC878-BD71-9621-B05E-CB2D66F19CB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DAC5093-669C-DA9C-FFAC-1979763C7DA5}"/>
              </a:ext>
            </a:extLst>
          </p:cNvPr>
          <p:cNvSpPr txBox="1"/>
          <p:nvPr/>
        </p:nvSpPr>
        <p:spPr>
          <a:xfrm>
            <a:off x="899652" y="654811"/>
            <a:ext cx="3547766" cy="579967"/>
          </a:xfrm>
          <a:prstGeom prst="rect">
            <a:avLst/>
          </a:prstGeom>
          <a:noFill/>
        </p:spPr>
        <p:txBody>
          <a:bodyPr wrap="none">
            <a:spAutoFit/>
          </a:bodyPr>
          <a:lstStyle/>
          <a:p>
            <a:pPr>
              <a:lnSpc>
                <a:spcPct val="150000"/>
              </a:lnSpc>
              <a:defRPr sz="2700"/>
            </a:pPr>
            <a:r>
              <a:rPr lang="en-IN" sz="2400" b="1" dirty="0">
                <a:latin typeface="Times New Roman" panose="02020603050405020304" pitchFamily="18" charset="0"/>
                <a:cs typeface="Times New Roman" panose="02020603050405020304" pitchFamily="18" charset="0"/>
              </a:rPr>
              <a:t>1. DESIGN PRINCIPLE:</a:t>
            </a:r>
          </a:p>
        </p:txBody>
      </p:sp>
      <p:sp>
        <p:nvSpPr>
          <p:cNvPr id="3" name="TextBox 2">
            <a:extLst>
              <a:ext uri="{FF2B5EF4-FFF2-40B4-BE49-F238E27FC236}">
                <a16:creationId xmlns:a16="http://schemas.microsoft.com/office/drawing/2014/main" id="{C0B4B161-6B04-82E7-4AD4-858D16926393}"/>
              </a:ext>
            </a:extLst>
          </p:cNvPr>
          <p:cNvSpPr txBox="1"/>
          <p:nvPr/>
        </p:nvSpPr>
        <p:spPr>
          <a:xfrm>
            <a:off x="899652" y="1756976"/>
            <a:ext cx="9258055" cy="2345322"/>
          </a:xfrm>
          <a:prstGeom prst="rect">
            <a:avLst/>
          </a:prstGeom>
          <a:noFill/>
        </p:spPr>
        <p:txBody>
          <a:bodyPr wrap="square">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Follow a </a:t>
            </a:r>
            <a:r>
              <a:rPr lang="en-IN" sz="2000" b="1" dirty="0">
                <a:latin typeface="Times New Roman" panose="02020603050405020304" pitchFamily="18" charset="0"/>
                <a:cs typeface="Times New Roman" panose="02020603050405020304" pitchFamily="18" charset="0"/>
              </a:rPr>
              <a:t>modular, loosely coupled architecture</a:t>
            </a:r>
            <a:r>
              <a:rPr lang="en-IN" sz="2000" dirty="0">
                <a:latin typeface="Times New Roman" panose="02020603050405020304" pitchFamily="18" charset="0"/>
                <a:cs typeface="Times New Roman" panose="02020603050405020304" pitchFamily="18" charset="0"/>
              </a:rPr>
              <a:t> in which the UI, API layer, agent orchestration, tools, state/memory, retrieval components, and LLM providers have clearly defined responsibilities. This allows individual components to be </a:t>
            </a:r>
            <a:r>
              <a:rPr lang="en-IN" sz="2000" b="1" dirty="0">
                <a:latin typeface="Times New Roman" panose="02020603050405020304" pitchFamily="18" charset="0"/>
                <a:cs typeface="Times New Roman" panose="02020603050405020304" pitchFamily="18" charset="0"/>
              </a:rPr>
              <a:t>developed, tested, replaced, and extended independently</a:t>
            </a:r>
            <a:r>
              <a:rPr lang="en-IN" sz="2000" dirty="0">
                <a:latin typeface="Times New Roman" panose="02020603050405020304" pitchFamily="18" charset="0"/>
                <a:cs typeface="Times New Roman" panose="02020603050405020304" pitchFamily="18" charset="0"/>
              </a:rPr>
              <a:t> without requiring major changes to the complete system.</a:t>
            </a:r>
          </a:p>
        </p:txBody>
      </p:sp>
    </p:spTree>
    <p:extLst>
      <p:ext uri="{BB962C8B-B14F-4D97-AF65-F5344CB8AC3E}">
        <p14:creationId xmlns:p14="http://schemas.microsoft.com/office/powerpoint/2010/main" val="115488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2820" y="417521"/>
            <a:ext cx="9764148" cy="584775"/>
          </a:xfrm>
          <a:prstGeom prst="rect">
            <a:avLst/>
          </a:prstGeom>
          <a:noFill/>
        </p:spPr>
        <p:txBody>
          <a:bodyPr wrap="none">
            <a:spAutoFit/>
          </a:bodyPr>
          <a:lstStyle/>
          <a:p>
            <a:pPr algn="ctr">
              <a:defRPr sz="2700"/>
            </a:pPr>
            <a:r>
              <a:rPr lang="en-US" sz="3200" b="1" dirty="0">
                <a:latin typeface="Times New Roman" panose="02020603050405020304" pitchFamily="18" charset="0"/>
                <a:cs typeface="Times New Roman" panose="02020603050405020304" pitchFamily="18" charset="0"/>
              </a:rPr>
              <a:t>2. WHAT THE ARCHITECTURE DEMONSTRATES</a:t>
            </a:r>
          </a:p>
        </p:txBody>
      </p:sp>
      <p:sp>
        <p:nvSpPr>
          <p:cNvPr id="3" name="TextBox 2"/>
          <p:cNvSpPr txBox="1"/>
          <p:nvPr/>
        </p:nvSpPr>
        <p:spPr>
          <a:xfrm>
            <a:off x="322820" y="1202058"/>
            <a:ext cx="10048568" cy="4653646"/>
          </a:xfrm>
          <a:prstGeom prst="rect">
            <a:avLst/>
          </a:prstGeom>
          <a:noFill/>
        </p:spPr>
        <p:txBody>
          <a:bodyPr wrap="square">
            <a:spAutoFit/>
          </a:bodyPr>
          <a:lstStyle/>
          <a:p>
            <a:pPr lvl="0">
              <a:lnSpc>
                <a:spcPct val="150000"/>
              </a:lnSpc>
            </a:pPr>
            <a:r>
              <a:rPr lang="en-IN" sz="2000" b="1" dirty="0">
                <a:latin typeface="Times New Roman" panose="02020603050405020304" pitchFamily="18" charset="0"/>
                <a:cs typeface="Times New Roman" panose="02020603050405020304" pitchFamily="18" charset="0"/>
              </a:rPr>
              <a:t>Multi-Step Agent Orchestration</a:t>
            </a:r>
            <a:r>
              <a:rPr lang="en-IN" sz="2000" dirty="0">
                <a:latin typeface="Times New Roman" panose="02020603050405020304" pitchFamily="18" charset="0"/>
                <a:cs typeface="Times New Roman" panose="02020603050405020304" pitchFamily="18" charset="0"/>
              </a:rPr>
              <a:t> — Uses specialized agents across multiple workflow stages instead of relying on a single LLM call, enabling clear separation between data collection, analysis, and report generation. </a:t>
            </a:r>
          </a:p>
          <a:p>
            <a:pPr lvl="0">
              <a:lnSpc>
                <a:spcPct val="150000"/>
              </a:lnSpc>
            </a:pPr>
            <a:r>
              <a:rPr lang="en-IN" sz="2000" b="1" dirty="0">
                <a:latin typeface="Times New Roman" panose="02020603050405020304" pitchFamily="18" charset="0"/>
                <a:cs typeface="Times New Roman" panose="02020603050405020304" pitchFamily="18" charset="0"/>
              </a:rPr>
              <a:t>Tool-Based Information Gathering</a:t>
            </a:r>
            <a:r>
              <a:rPr lang="en-IN" sz="2000" dirty="0">
                <a:latin typeface="Times New Roman" panose="02020603050405020304" pitchFamily="18" charset="0"/>
                <a:cs typeface="Times New Roman" panose="02020603050405020304" pitchFamily="18" charset="0"/>
              </a:rPr>
              <a:t> — Integrates dedicated tools for collecting </a:t>
            </a:r>
            <a:r>
              <a:rPr lang="en-IN" sz="2000" b="1" dirty="0">
                <a:latin typeface="Times New Roman" panose="02020603050405020304" pitchFamily="18" charset="0"/>
                <a:cs typeface="Times New Roman" panose="02020603050405020304" pitchFamily="18" charset="0"/>
              </a:rPr>
              <a:t>company information, news, stock data, and additional search results</a:t>
            </a:r>
            <a:r>
              <a:rPr lang="en-IN" sz="2000" dirty="0">
                <a:latin typeface="Times New Roman" panose="02020603050405020304" pitchFamily="18" charset="0"/>
                <a:cs typeface="Times New Roman" panose="02020603050405020304" pitchFamily="18" charset="0"/>
              </a:rPr>
              <a:t>, allowing agents to work with external information sources. </a:t>
            </a:r>
          </a:p>
          <a:p>
            <a:pPr lvl="0">
              <a:lnSpc>
                <a:spcPct val="150000"/>
              </a:lnSpc>
            </a:pPr>
            <a:r>
              <a:rPr lang="en-IN" sz="2000" b="1" dirty="0">
                <a:latin typeface="Times New Roman" panose="02020603050405020304" pitchFamily="18" charset="0"/>
                <a:cs typeface="Times New Roman" panose="02020603050405020304" pitchFamily="18" charset="0"/>
              </a:rPr>
              <a:t>Typed Company State</a:t>
            </a:r>
            <a:r>
              <a:rPr lang="en-IN" sz="2000" dirty="0">
                <a:latin typeface="Times New Roman" panose="02020603050405020304" pitchFamily="18" charset="0"/>
                <a:cs typeface="Times New Roman" panose="02020603050405020304" pitchFamily="18" charset="0"/>
              </a:rPr>
              <a:t> — Uses a structured </a:t>
            </a:r>
            <a:r>
              <a:rPr lang="en-IN" sz="2000" b="1" dirty="0">
                <a:latin typeface="Times New Roman" panose="02020603050405020304" pitchFamily="18" charset="0"/>
                <a:cs typeface="Times New Roman" panose="02020603050405020304" pitchFamily="18" charset="0"/>
              </a:rPr>
              <a:t>Company State</a:t>
            </a:r>
            <a:r>
              <a:rPr lang="en-IN" sz="2000" dirty="0">
                <a:latin typeface="Times New Roman" panose="02020603050405020304" pitchFamily="18" charset="0"/>
                <a:cs typeface="Times New Roman" panose="02020603050405020304" pitchFamily="18" charset="0"/>
              </a:rPr>
              <a:t> to maintain and transfer collected information between workflow components, providing predictable and consistent data flow. </a:t>
            </a:r>
          </a:p>
          <a:p>
            <a:pPr lvl="0">
              <a:lnSpc>
                <a:spcPct val="150000"/>
              </a:lnSpc>
            </a:pPr>
            <a:r>
              <a:rPr lang="en-IN" sz="2000" b="1" dirty="0">
                <a:latin typeface="Times New Roman" panose="02020603050405020304" pitchFamily="18" charset="0"/>
                <a:cs typeface="Times New Roman" panose="02020603050405020304" pitchFamily="18" charset="0"/>
              </a:rPr>
              <a:t>Context-Aware Conversations</a:t>
            </a:r>
            <a:r>
              <a:rPr lang="en-IN" sz="2000" dirty="0">
                <a:latin typeface="Times New Roman" panose="02020603050405020304" pitchFamily="18" charset="0"/>
                <a:cs typeface="Times New Roman" panose="02020603050405020304" pitchFamily="18" charset="0"/>
              </a:rPr>
              <a:t> — Uses </a:t>
            </a:r>
            <a:r>
              <a:rPr lang="en-IN" sz="2000" b="1" dirty="0">
                <a:latin typeface="Times New Roman" panose="02020603050405020304" pitchFamily="18" charset="0"/>
                <a:cs typeface="Times New Roman" panose="02020603050405020304" pitchFamily="18" charset="0"/>
              </a:rPr>
              <a:t>conversation memory and pronoun/query resolution</a:t>
            </a:r>
            <a:r>
              <a:rPr lang="en-IN" sz="2000" dirty="0">
                <a:latin typeface="Times New Roman" panose="02020603050405020304" pitchFamily="18" charset="0"/>
                <a:cs typeface="Times New Roman" panose="02020603050405020304" pitchFamily="18" charset="0"/>
              </a:rPr>
              <a:t> to understand follow-up questions and maintain continuity across multiple interactions.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AD1DA-7A7F-13B3-0C45-D7853A0D81D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56F7B0F-6657-D240-ED0C-F6E106B5AED1}"/>
              </a:ext>
            </a:extLst>
          </p:cNvPr>
          <p:cNvSpPr txBox="1"/>
          <p:nvPr/>
        </p:nvSpPr>
        <p:spPr>
          <a:xfrm>
            <a:off x="1238864" y="1465518"/>
            <a:ext cx="9714271" cy="3730317"/>
          </a:xfrm>
          <a:prstGeom prst="rect">
            <a:avLst/>
          </a:prstGeom>
          <a:noFill/>
        </p:spPr>
        <p:txBody>
          <a:bodyPr wrap="square">
            <a:spAutoFit/>
          </a:bodyPr>
          <a:lstStyle/>
          <a:p>
            <a:pPr lvl="0">
              <a:lnSpc>
                <a:spcPct val="150000"/>
              </a:lnSpc>
            </a:pPr>
            <a:r>
              <a:rPr lang="en-IN" sz="2000" b="1" dirty="0">
                <a:latin typeface="Times New Roman" panose="02020603050405020304" pitchFamily="18" charset="0"/>
                <a:cs typeface="Times New Roman" panose="02020603050405020304" pitchFamily="18" charset="0"/>
              </a:rPr>
              <a:t>LLM Provider Abstraction</a:t>
            </a:r>
            <a:r>
              <a:rPr lang="en-IN" sz="2000" dirty="0">
                <a:latin typeface="Times New Roman" panose="02020603050405020304" pitchFamily="18" charset="0"/>
                <a:cs typeface="Times New Roman" panose="02020603050405020304" pitchFamily="18" charset="0"/>
              </a:rPr>
              <a:t> — Provides a common LLM interface supporting </a:t>
            </a:r>
            <a:r>
              <a:rPr lang="en-IN" sz="2000" b="1" dirty="0">
                <a:latin typeface="Times New Roman" panose="02020603050405020304" pitchFamily="18" charset="0"/>
                <a:cs typeface="Times New Roman" panose="02020603050405020304" pitchFamily="18" charset="0"/>
              </a:rPr>
              <a:t>OpenAI, and Demo Model</a:t>
            </a:r>
            <a:r>
              <a:rPr lang="en-IN" sz="2000" dirty="0">
                <a:latin typeface="Times New Roman" panose="02020603050405020304" pitchFamily="18" charset="0"/>
                <a:cs typeface="Times New Roman" panose="02020603050405020304" pitchFamily="18" charset="0"/>
              </a:rPr>
              <a:t>, allowing the underlying provider to be changed without modifying the overall application workflow. </a:t>
            </a:r>
          </a:p>
          <a:p>
            <a:pPr lvl="0">
              <a:lnSpc>
                <a:spcPct val="150000"/>
              </a:lnSpc>
            </a:pPr>
            <a:r>
              <a:rPr lang="en-IN" sz="2000" b="1" dirty="0">
                <a:latin typeface="Times New Roman" panose="02020603050405020304" pitchFamily="18" charset="0"/>
                <a:cs typeface="Times New Roman" panose="02020603050405020304" pitchFamily="18" charset="0"/>
              </a:rPr>
              <a:t>Reliable Demonstration &amp; Fallback</a:t>
            </a:r>
            <a:r>
              <a:rPr lang="en-IN" sz="2000" dirty="0">
                <a:latin typeface="Times New Roman" panose="02020603050405020304" pitchFamily="18" charset="0"/>
                <a:cs typeface="Times New Roman" panose="02020603050405020304" pitchFamily="18" charset="0"/>
              </a:rPr>
              <a:t> — Supports </a:t>
            </a:r>
            <a:r>
              <a:rPr lang="en-IN" sz="2000" b="1" dirty="0">
                <a:latin typeface="Times New Roman" panose="02020603050405020304" pitchFamily="18" charset="0"/>
                <a:cs typeface="Times New Roman" panose="02020603050405020304" pitchFamily="18" charset="0"/>
              </a:rPr>
              <a:t>Demo Model / DEMO_MODE</a:t>
            </a:r>
            <a:r>
              <a:rPr lang="en-IN" sz="2000" dirty="0">
                <a:latin typeface="Times New Roman" panose="02020603050405020304" pitchFamily="18" charset="0"/>
                <a:cs typeface="Times New Roman" panose="02020603050405020304" pitchFamily="18" charset="0"/>
              </a:rPr>
              <a:t> when external API credentials are unavailable, allowing the application workflow to continue during testing and demonstrations. </a:t>
            </a:r>
          </a:p>
          <a:p>
            <a:pPr lvl="0">
              <a:lnSpc>
                <a:spcPct val="150000"/>
              </a:lnSpc>
            </a:pPr>
            <a:r>
              <a:rPr lang="en-IN" sz="2000" b="1" dirty="0">
                <a:latin typeface="Times New Roman" panose="02020603050405020304" pitchFamily="18" charset="0"/>
                <a:cs typeface="Times New Roman" panose="02020603050405020304" pitchFamily="18" charset="0"/>
              </a:rPr>
              <a:t>Source-Aware Responses</a:t>
            </a:r>
            <a:r>
              <a:rPr lang="en-IN" sz="2000" dirty="0">
                <a:latin typeface="Times New Roman" panose="02020603050405020304" pitchFamily="18" charset="0"/>
                <a:cs typeface="Times New Roman" panose="02020603050405020304" pitchFamily="18" charset="0"/>
              </a:rPr>
              <a:t> — Preserves available source URLs during information collection so that generated company intelligence and knowledge responses can retain traceability.</a:t>
            </a:r>
          </a:p>
        </p:txBody>
      </p:sp>
    </p:spTree>
    <p:extLst>
      <p:ext uri="{BB962C8B-B14F-4D97-AF65-F5344CB8AC3E}">
        <p14:creationId xmlns:p14="http://schemas.microsoft.com/office/powerpoint/2010/main" val="1254145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4817986" cy="461665"/>
          </a:xfrm>
          <a:prstGeom prst="rect">
            <a:avLst/>
          </a:prstGeom>
          <a:noFill/>
        </p:spPr>
        <p:txBody>
          <a:bodyPr wrap="none">
            <a:spAutoFit/>
          </a:bodyPr>
          <a:lstStyle/>
          <a:p>
            <a:pPr>
              <a:defRPr sz="2700"/>
            </a:pPr>
            <a:r>
              <a:rPr lang="en-IN" sz="2400" b="1" dirty="0">
                <a:latin typeface="Times New Roman" panose="02020603050405020304" pitchFamily="18" charset="0"/>
                <a:cs typeface="Times New Roman" panose="02020603050405020304" pitchFamily="18" charset="0"/>
              </a:rPr>
              <a:t>3. HIGH-LEVEL SYSTEM FLOW</a:t>
            </a:r>
          </a:p>
        </p:txBody>
      </p:sp>
      <p:pic>
        <p:nvPicPr>
          <p:cNvPr id="13" name="Picture 12">
            <a:extLst>
              <a:ext uri="{FF2B5EF4-FFF2-40B4-BE49-F238E27FC236}">
                <a16:creationId xmlns:a16="http://schemas.microsoft.com/office/drawing/2014/main" id="{55313B4D-4939-8E0B-E1C5-C4B84675AD55}"/>
              </a:ext>
            </a:extLst>
          </p:cNvPr>
          <p:cNvPicPr>
            <a:picLocks noChangeAspect="1"/>
          </p:cNvPicPr>
          <p:nvPr/>
        </p:nvPicPr>
        <p:blipFill>
          <a:blip r:embed="rId2"/>
          <a:stretch>
            <a:fillRect/>
          </a:stretch>
        </p:blipFill>
        <p:spPr>
          <a:xfrm>
            <a:off x="2900516" y="884902"/>
            <a:ext cx="6548284" cy="597309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 name="Table 30">
            <a:extLst>
              <a:ext uri="{FF2B5EF4-FFF2-40B4-BE49-F238E27FC236}">
                <a16:creationId xmlns:a16="http://schemas.microsoft.com/office/drawing/2014/main" id="{7A1DD6E5-BEC9-CB0F-2B37-5CBBF4A2A717}"/>
              </a:ext>
            </a:extLst>
          </p:cNvPr>
          <p:cNvGraphicFramePr>
            <a:graphicFrameLocks noGrp="1"/>
          </p:cNvGraphicFramePr>
          <p:nvPr>
            <p:extLst>
              <p:ext uri="{D42A27DB-BD31-4B8C-83A1-F6EECF244321}">
                <p14:modId xmlns:p14="http://schemas.microsoft.com/office/powerpoint/2010/main" val="2124225286"/>
              </p:ext>
            </p:extLst>
          </p:nvPr>
        </p:nvGraphicFramePr>
        <p:xfrm>
          <a:off x="226143" y="235974"/>
          <a:ext cx="11631561" cy="6698200"/>
        </p:xfrm>
        <a:graphic>
          <a:graphicData uri="http://schemas.openxmlformats.org/drawingml/2006/table">
            <a:tbl>
              <a:tblPr>
                <a:tableStyleId>{5C22544A-7EE6-4342-B048-85BDC9FD1C3A}</a:tableStyleId>
              </a:tblPr>
              <a:tblGrid>
                <a:gridCol w="3877187">
                  <a:extLst>
                    <a:ext uri="{9D8B030D-6E8A-4147-A177-3AD203B41FA5}">
                      <a16:colId xmlns:a16="http://schemas.microsoft.com/office/drawing/2014/main" val="1330626052"/>
                    </a:ext>
                  </a:extLst>
                </a:gridCol>
                <a:gridCol w="3877187">
                  <a:extLst>
                    <a:ext uri="{9D8B030D-6E8A-4147-A177-3AD203B41FA5}">
                      <a16:colId xmlns:a16="http://schemas.microsoft.com/office/drawing/2014/main" val="2280473853"/>
                    </a:ext>
                  </a:extLst>
                </a:gridCol>
                <a:gridCol w="3877187">
                  <a:extLst>
                    <a:ext uri="{9D8B030D-6E8A-4147-A177-3AD203B41FA5}">
                      <a16:colId xmlns:a16="http://schemas.microsoft.com/office/drawing/2014/main" val="3513453009"/>
                    </a:ext>
                  </a:extLst>
                </a:gridCol>
              </a:tblGrid>
              <a:tr h="113350">
                <a:tc>
                  <a:txBody>
                    <a:bodyPr/>
                    <a:lstStyle/>
                    <a:p>
                      <a:pPr>
                        <a:buNone/>
                      </a:pPr>
                      <a:r>
                        <a:rPr lang="en-IN" sz="1100">
                          <a:latin typeface="Times New Roman" panose="02020603050405020304" pitchFamily="18" charset="0"/>
                          <a:cs typeface="Times New Roman" panose="02020603050405020304" pitchFamily="18" charset="0"/>
                        </a:rPr>
                        <a:t>Layer</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Responsibilities</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Key Components</a:t>
                      </a:r>
                    </a:p>
                  </a:txBody>
                  <a:tcPr marL="18549" marR="18549" marT="9275" marB="9275" anchor="ctr"/>
                </a:tc>
                <a:extLst>
                  <a:ext uri="{0D108BD9-81ED-4DB2-BD59-A6C34878D82A}">
                    <a16:rowId xmlns:a16="http://schemas.microsoft.com/office/drawing/2014/main" val="3112998604"/>
                  </a:ext>
                </a:extLst>
              </a:tr>
              <a:tr h="740419">
                <a:tc>
                  <a:txBody>
                    <a:bodyPr/>
                    <a:lstStyle/>
                    <a:p>
                      <a:pPr>
                        <a:buNone/>
                      </a:pPr>
                      <a:r>
                        <a:rPr lang="en-IN" sz="1100">
                          <a:latin typeface="Times New Roman" panose="02020603050405020304" pitchFamily="18" charset="0"/>
                          <a:cs typeface="Times New Roman" panose="02020603050405020304" pitchFamily="18" charset="0"/>
                        </a:rPr>
                        <a:t>1. Client / Presentation</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Provides the user interface for submitting company-related queries and displaying structured responses. Maintains conversational interaction and presents company insights, news, stock information, and reports.</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Streamlit, Browser UI, Chat Interface, Session Handling</a:t>
                      </a:r>
                    </a:p>
                  </a:txBody>
                  <a:tcPr marL="18549" marR="18549" marT="9275" marB="9275" anchor="ctr"/>
                </a:tc>
                <a:extLst>
                  <a:ext uri="{0D108BD9-81ED-4DB2-BD59-A6C34878D82A}">
                    <a16:rowId xmlns:a16="http://schemas.microsoft.com/office/drawing/2014/main" val="1832028672"/>
                  </a:ext>
                </a:extLst>
              </a:tr>
              <a:tr h="502427">
                <a:tc>
                  <a:txBody>
                    <a:bodyPr/>
                    <a:lstStyle/>
                    <a:p>
                      <a:pPr>
                        <a:buNone/>
                      </a:pPr>
                      <a:r>
                        <a:rPr lang="en-IN" sz="1100">
                          <a:latin typeface="Times New Roman" panose="02020603050405020304" pitchFamily="18" charset="0"/>
                          <a:cs typeface="Times New Roman" panose="02020603050405020304" pitchFamily="18" charset="0"/>
                        </a:rPr>
                        <a:t>2. API / Service Layer</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Exposes backend endpoints, validates incoming requests, manages request/response flow, and routes queries to the orchestration layer.</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FastAPI, REST APIs, Pydantic, Request Validation, CORS</a:t>
                      </a:r>
                    </a:p>
                  </a:txBody>
                  <a:tcPr marL="18549" marR="18549" marT="9275" marB="9275" anchor="ctr"/>
                </a:tc>
                <a:extLst>
                  <a:ext uri="{0D108BD9-81ED-4DB2-BD59-A6C34878D82A}">
                    <a16:rowId xmlns:a16="http://schemas.microsoft.com/office/drawing/2014/main" val="3815395675"/>
                  </a:ext>
                </a:extLst>
              </a:tr>
              <a:tr h="581757">
                <a:tc>
                  <a:txBody>
                    <a:bodyPr/>
                    <a:lstStyle/>
                    <a:p>
                      <a:pPr>
                        <a:buNone/>
                      </a:pPr>
                      <a:r>
                        <a:rPr lang="en-IN" sz="1100">
                          <a:latin typeface="Times New Roman" panose="02020603050405020304" pitchFamily="18" charset="0"/>
                          <a:cs typeface="Times New Roman" panose="02020603050405020304" pitchFamily="18" charset="0"/>
                        </a:rPr>
                        <a:t>3. Orchestration Layer</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Controls the complete multi-agent workflow. Determines which agent should execute, manages execution order, handles conditional routing, and coordinates agent outputs.</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LangGraph, Controller Agent, Data Collector Agent, Analyst Agent, Report Formatter Agent</a:t>
                      </a:r>
                    </a:p>
                  </a:txBody>
                  <a:tcPr marL="18549" marR="18549" marT="9275" marB="9275" anchor="ctr"/>
                </a:tc>
                <a:extLst>
                  <a:ext uri="{0D108BD9-81ED-4DB2-BD59-A6C34878D82A}">
                    <a16:rowId xmlns:a16="http://schemas.microsoft.com/office/drawing/2014/main" val="2233118766"/>
                  </a:ext>
                </a:extLst>
              </a:tr>
              <a:tr h="581757">
                <a:tc>
                  <a:txBody>
                    <a:bodyPr/>
                    <a:lstStyle/>
                    <a:p>
                      <a:pPr>
                        <a:buNone/>
                      </a:pPr>
                      <a:r>
                        <a:rPr lang="en-IN" sz="1100">
                          <a:latin typeface="Times New Roman" panose="02020603050405020304" pitchFamily="18" charset="0"/>
                          <a:cs typeface="Times New Roman" panose="02020603050405020304" pitchFamily="18" charset="0"/>
                        </a:rPr>
                        <a:t>4. State &amp; Memory Layer</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Maintains the current workflow state and conversation context across multiple steps and follow-up questions. Enables agents to share structured information.</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CompanyState, Conversation Memory Manager, Session State, Agent State</a:t>
                      </a:r>
                    </a:p>
                  </a:txBody>
                  <a:tcPr marL="18549" marR="18549" marT="9275" marB="9275" anchor="ctr"/>
                </a:tc>
                <a:extLst>
                  <a:ext uri="{0D108BD9-81ED-4DB2-BD59-A6C34878D82A}">
                    <a16:rowId xmlns:a16="http://schemas.microsoft.com/office/drawing/2014/main" val="1117714265"/>
                  </a:ext>
                </a:extLst>
              </a:tr>
              <a:tr h="502427">
                <a:tc>
                  <a:txBody>
                    <a:bodyPr/>
                    <a:lstStyle/>
                    <a:p>
                      <a:pPr>
                        <a:buNone/>
                      </a:pPr>
                      <a:r>
                        <a:rPr lang="en-IN" sz="1100">
                          <a:latin typeface="Times New Roman" panose="02020603050405020304" pitchFamily="18" charset="0"/>
                          <a:cs typeface="Times New Roman" panose="02020603050405020304" pitchFamily="18" charset="0"/>
                        </a:rPr>
                        <a:t>5. Agent Layer</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Performs specialized tasks independently and passes results to other agents. Each agent has a clearly defined responsibility within the workflow.</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Company Research Agent, News Agent, Stock Agent, Analyst Agent, Report Formatter</a:t>
                      </a:r>
                    </a:p>
                  </a:txBody>
                  <a:tcPr marL="18549" marR="18549" marT="9275" marB="9275" anchor="ctr"/>
                </a:tc>
                <a:extLst>
                  <a:ext uri="{0D108BD9-81ED-4DB2-BD59-A6C34878D82A}">
                    <a16:rowId xmlns:a16="http://schemas.microsoft.com/office/drawing/2014/main" val="3026498426"/>
                  </a:ext>
                </a:extLst>
              </a:tr>
              <a:tr h="502427">
                <a:tc>
                  <a:txBody>
                    <a:bodyPr/>
                    <a:lstStyle/>
                    <a:p>
                      <a:pPr>
                        <a:buNone/>
                      </a:pPr>
                      <a:r>
                        <a:rPr lang="en-IN" sz="1100" dirty="0">
                          <a:latin typeface="Times New Roman" panose="02020603050405020304" pitchFamily="18" charset="0"/>
                          <a:cs typeface="Times New Roman" panose="02020603050405020304" pitchFamily="18" charset="0"/>
                        </a:rPr>
                        <a:t>6. Retrieval &amp; Tools Layer</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Connects agents to external and internal information sources. Retrieves current company information and relevant documents when required.</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Web Search, News API, Stock API, Company Information API, RAG Retriever, Vector Database</a:t>
                      </a:r>
                    </a:p>
                  </a:txBody>
                  <a:tcPr marL="18549" marR="18549" marT="9275" marB="9275" anchor="ctr"/>
                </a:tc>
                <a:extLst>
                  <a:ext uri="{0D108BD9-81ED-4DB2-BD59-A6C34878D82A}">
                    <a16:rowId xmlns:a16="http://schemas.microsoft.com/office/drawing/2014/main" val="1347302674"/>
                  </a:ext>
                </a:extLst>
              </a:tr>
              <a:tr h="661088">
                <a:tc>
                  <a:txBody>
                    <a:bodyPr/>
                    <a:lstStyle/>
                    <a:p>
                      <a:pPr>
                        <a:buNone/>
                      </a:pPr>
                      <a:r>
                        <a:rPr lang="en-IN" sz="1100" dirty="0">
                          <a:latin typeface="Times New Roman" panose="02020603050405020304" pitchFamily="18" charset="0"/>
                          <a:cs typeface="Times New Roman" panose="02020603050405020304" pitchFamily="18" charset="0"/>
                        </a:rPr>
                        <a:t>7. Knowledge / RAG Layer</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Retrieves relevant information from indexed documents and provides grounded context to the LLM. Helps reduce unsupported responses and improves contextual answers.</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ChromaDB, Embeddings, Document Loader, Text Splitter, Retriever, Knowledge Base</a:t>
                      </a:r>
                    </a:p>
                  </a:txBody>
                  <a:tcPr marL="18549" marR="18549" marT="9275" marB="9275" anchor="ctr"/>
                </a:tc>
                <a:extLst>
                  <a:ext uri="{0D108BD9-81ED-4DB2-BD59-A6C34878D82A}">
                    <a16:rowId xmlns:a16="http://schemas.microsoft.com/office/drawing/2014/main" val="3735612181"/>
                  </a:ext>
                </a:extLst>
              </a:tr>
              <a:tr h="502427">
                <a:tc>
                  <a:txBody>
                    <a:bodyPr/>
                    <a:lstStyle/>
                    <a:p>
                      <a:pPr>
                        <a:buNone/>
                      </a:pPr>
                      <a:r>
                        <a:rPr lang="en-IN" sz="1100">
                          <a:latin typeface="Times New Roman" panose="02020603050405020304" pitchFamily="18" charset="0"/>
                          <a:cs typeface="Times New Roman" panose="02020603050405020304" pitchFamily="18" charset="0"/>
                        </a:rPr>
                        <a:t>8. LLM Layer</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Provides reasoning, summarization, classification, information extraction, and natural-language generation capabilities to the agents.</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ChatGroq, ChatOpenAI, DemoModel, Prompt Templates</a:t>
                      </a:r>
                    </a:p>
                  </a:txBody>
                  <a:tcPr marL="18549" marR="18549" marT="9275" marB="9275" anchor="ctr"/>
                </a:tc>
                <a:extLst>
                  <a:ext uri="{0D108BD9-81ED-4DB2-BD59-A6C34878D82A}">
                    <a16:rowId xmlns:a16="http://schemas.microsoft.com/office/drawing/2014/main" val="3413492584"/>
                  </a:ext>
                </a:extLst>
              </a:tr>
              <a:tr h="581757">
                <a:tc>
                  <a:txBody>
                    <a:bodyPr/>
                    <a:lstStyle/>
                    <a:p>
                      <a:pPr>
                        <a:buNone/>
                      </a:pPr>
                      <a:r>
                        <a:rPr lang="en-IN" sz="1100">
                          <a:latin typeface="Times New Roman" panose="02020603050405020304" pitchFamily="18" charset="0"/>
                          <a:cs typeface="Times New Roman" panose="02020603050405020304" pitchFamily="18" charset="0"/>
                        </a:rPr>
                        <a:t>9. Validation &amp; Guardrails</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Validates retrieved information and generated responses before they reach the user. Checks relevance, completeness, source availability, and potential hallucinations.</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Source Validation, Output Validation, Relevance Check, Error Handling, Fallback Logic</a:t>
                      </a:r>
                    </a:p>
                  </a:txBody>
                  <a:tcPr marL="18549" marR="18549" marT="9275" marB="9275" anchor="ctr"/>
                </a:tc>
                <a:extLst>
                  <a:ext uri="{0D108BD9-81ED-4DB2-BD59-A6C34878D82A}">
                    <a16:rowId xmlns:a16="http://schemas.microsoft.com/office/drawing/2014/main" val="1758200622"/>
                  </a:ext>
                </a:extLst>
              </a:tr>
              <a:tr h="423095">
                <a:tc>
                  <a:txBody>
                    <a:bodyPr/>
                    <a:lstStyle/>
                    <a:p>
                      <a:pPr>
                        <a:buNone/>
                      </a:pPr>
                      <a:r>
                        <a:rPr lang="en-IN" sz="1100">
                          <a:latin typeface="Times New Roman" panose="02020603050405020304" pitchFamily="18" charset="0"/>
                          <a:cs typeface="Times New Roman" panose="02020603050405020304" pitchFamily="18" charset="0"/>
                        </a:rPr>
                        <a:t>10. Response / Reporting Layer</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Combines outputs from multiple agents into a clear and structured final response or company intelligence report.</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Report Formatter, Structured Output, Markdown/JSON Response, Source References</a:t>
                      </a:r>
                    </a:p>
                  </a:txBody>
                  <a:tcPr marL="18549" marR="18549" marT="9275" marB="9275" anchor="ctr"/>
                </a:tc>
                <a:extLst>
                  <a:ext uri="{0D108BD9-81ED-4DB2-BD59-A6C34878D82A}">
                    <a16:rowId xmlns:a16="http://schemas.microsoft.com/office/drawing/2014/main" val="1093428804"/>
                  </a:ext>
                </a:extLst>
              </a:tr>
              <a:tr h="423095">
                <a:tc>
                  <a:txBody>
                    <a:bodyPr/>
                    <a:lstStyle/>
                    <a:p>
                      <a:pPr>
                        <a:buNone/>
                      </a:pPr>
                      <a:r>
                        <a:rPr lang="en-IN" sz="1100">
                          <a:latin typeface="Times New Roman" panose="02020603050405020304" pitchFamily="18" charset="0"/>
                          <a:cs typeface="Times New Roman" panose="02020603050405020304" pitchFamily="18" charset="0"/>
                        </a:rPr>
                        <a:t>11. Observability &amp; Logging</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Tracks agent execution, API calls, errors, latency, retrieved information, and workflow state to simplify debugging and monitoring.</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Logging, Tracing, LangSmith, Execution Logs, Error Monitoring</a:t>
                      </a:r>
                    </a:p>
                  </a:txBody>
                  <a:tcPr marL="18549" marR="18549" marT="9275" marB="9275" anchor="ctr"/>
                </a:tc>
                <a:extLst>
                  <a:ext uri="{0D108BD9-81ED-4DB2-BD59-A6C34878D82A}">
                    <a16:rowId xmlns:a16="http://schemas.microsoft.com/office/drawing/2014/main" val="756531562"/>
                  </a:ext>
                </a:extLst>
              </a:tr>
              <a:tr h="343765">
                <a:tc>
                  <a:txBody>
                    <a:bodyPr/>
                    <a:lstStyle/>
                    <a:p>
                      <a:pPr>
                        <a:buNone/>
                      </a:pPr>
                      <a:r>
                        <a:rPr lang="en-IN" sz="1100">
                          <a:latin typeface="Times New Roman" panose="02020603050405020304" pitchFamily="18" charset="0"/>
                          <a:cs typeface="Times New Roman" panose="02020603050405020304" pitchFamily="18" charset="0"/>
                        </a:rPr>
                        <a:t>12. Deployment &amp; Infrastructure</a:t>
                      </a:r>
                    </a:p>
                  </a:txBody>
                  <a:tcPr marL="18549" marR="18549" marT="9275" marB="9275" anchor="ctr"/>
                </a:tc>
                <a:tc>
                  <a:txBody>
                    <a:bodyPr/>
                    <a:lstStyle/>
                    <a:p>
                      <a:pPr>
                        <a:buNone/>
                      </a:pPr>
                      <a:r>
                        <a:rPr lang="en-IN" sz="1100">
                          <a:latin typeface="Times New Roman" panose="02020603050405020304" pitchFamily="18" charset="0"/>
                          <a:cs typeface="Times New Roman" panose="02020603050405020304" pitchFamily="18" charset="0"/>
                        </a:rPr>
                        <a:t>Packages and runs the application consistently across development and production environments.</a:t>
                      </a:r>
                    </a:p>
                  </a:txBody>
                  <a:tcPr marL="18549" marR="18549" marT="9275" marB="9275" anchor="ctr"/>
                </a:tc>
                <a:tc>
                  <a:txBody>
                    <a:bodyPr/>
                    <a:lstStyle/>
                    <a:p>
                      <a:pPr>
                        <a:buNone/>
                      </a:pPr>
                      <a:r>
                        <a:rPr lang="en-IN" sz="1100" dirty="0">
                          <a:latin typeface="Times New Roman" panose="02020603050405020304" pitchFamily="18" charset="0"/>
                          <a:cs typeface="Times New Roman" panose="02020603050405020304" pitchFamily="18" charset="0"/>
                        </a:rPr>
                        <a:t>Docker, </a:t>
                      </a:r>
                      <a:r>
                        <a:rPr lang="en-IN" sz="1100" dirty="0" err="1">
                          <a:latin typeface="Times New Roman" panose="02020603050405020304" pitchFamily="18" charset="0"/>
                          <a:cs typeface="Times New Roman" panose="02020603050405020304" pitchFamily="18" charset="0"/>
                        </a:rPr>
                        <a:t>FastAPI</a:t>
                      </a:r>
                      <a:r>
                        <a:rPr lang="en-IN" sz="1100" dirty="0">
                          <a:latin typeface="Times New Roman" panose="02020603050405020304" pitchFamily="18" charset="0"/>
                          <a:cs typeface="Times New Roman" panose="02020603050405020304" pitchFamily="18" charset="0"/>
                        </a:rPr>
                        <a:t> Server, Streamlit, Environment Variables, Cloud Deployment</a:t>
                      </a:r>
                    </a:p>
                  </a:txBody>
                  <a:tcPr marL="18549" marR="18549" marT="9275" marB="9275" anchor="ctr"/>
                </a:tc>
                <a:extLst>
                  <a:ext uri="{0D108BD9-81ED-4DB2-BD59-A6C34878D82A}">
                    <a16:rowId xmlns:a16="http://schemas.microsoft.com/office/drawing/2014/main" val="4782679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A351F-4F24-6F5F-7B22-BB7D9A46770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1E4F162-F82A-E7F5-6DA5-267AEE32C0AC}"/>
              </a:ext>
            </a:extLst>
          </p:cNvPr>
          <p:cNvSpPr txBox="1"/>
          <p:nvPr/>
        </p:nvSpPr>
        <p:spPr>
          <a:xfrm>
            <a:off x="594360" y="320040"/>
            <a:ext cx="6024278" cy="461665"/>
          </a:xfrm>
          <a:prstGeom prst="rect">
            <a:avLst/>
          </a:prstGeom>
          <a:noFill/>
        </p:spPr>
        <p:txBody>
          <a:bodyPr wrap="none">
            <a:spAutoFit/>
          </a:bodyPr>
          <a:lstStyle/>
          <a:p>
            <a:pPr>
              <a:defRPr sz="2700"/>
            </a:pPr>
            <a:r>
              <a:rPr lang="en-US" sz="2400" b="1" dirty="0">
                <a:latin typeface="Times New Roman" panose="02020603050405020304" pitchFamily="18" charset="0"/>
                <a:cs typeface="Times New Roman" panose="02020603050405020304" pitchFamily="18" charset="0"/>
              </a:rPr>
              <a:t>5. TASK 1 — COMPANY INTELLIGENCE</a:t>
            </a:r>
          </a:p>
        </p:txBody>
      </p:sp>
      <p:sp>
        <p:nvSpPr>
          <p:cNvPr id="3" name="Rounded Rectangle 2">
            <a:extLst>
              <a:ext uri="{FF2B5EF4-FFF2-40B4-BE49-F238E27FC236}">
                <a16:creationId xmlns:a16="http://schemas.microsoft.com/office/drawing/2014/main" id="{06047CC3-04D3-C0C6-6BFB-F87429463714}"/>
              </a:ext>
            </a:extLst>
          </p:cNvPr>
          <p:cNvSpPr/>
          <p:nvPr/>
        </p:nvSpPr>
        <p:spPr>
          <a:xfrm>
            <a:off x="411480" y="2057400"/>
            <a:ext cx="20574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START</a:t>
            </a:r>
          </a:p>
        </p:txBody>
      </p:sp>
      <p:sp>
        <p:nvSpPr>
          <p:cNvPr id="4" name="Right Arrow 3">
            <a:extLst>
              <a:ext uri="{FF2B5EF4-FFF2-40B4-BE49-F238E27FC236}">
                <a16:creationId xmlns:a16="http://schemas.microsoft.com/office/drawing/2014/main" id="{44731541-84C1-AA12-3BAA-6519C7D3510A}"/>
              </a:ext>
            </a:extLst>
          </p:cNvPr>
          <p:cNvSpPr/>
          <p:nvPr/>
        </p:nvSpPr>
        <p:spPr>
          <a:xfrm>
            <a:off x="2514600" y="2331720"/>
            <a:ext cx="256032" cy="34747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a:extLst>
              <a:ext uri="{FF2B5EF4-FFF2-40B4-BE49-F238E27FC236}">
                <a16:creationId xmlns:a16="http://schemas.microsoft.com/office/drawing/2014/main" id="{0ACA85B3-57DD-12EB-DEAD-A61D21BC67E9}"/>
              </a:ext>
            </a:extLst>
          </p:cNvPr>
          <p:cNvSpPr/>
          <p:nvPr/>
        </p:nvSpPr>
        <p:spPr>
          <a:xfrm>
            <a:off x="2788920" y="2057400"/>
            <a:ext cx="20574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Controller</a:t>
            </a:r>
          </a:p>
        </p:txBody>
      </p:sp>
      <p:sp>
        <p:nvSpPr>
          <p:cNvPr id="6" name="Right Arrow 5">
            <a:extLst>
              <a:ext uri="{FF2B5EF4-FFF2-40B4-BE49-F238E27FC236}">
                <a16:creationId xmlns:a16="http://schemas.microsoft.com/office/drawing/2014/main" id="{28195585-640B-97D0-3522-94296DF31636}"/>
              </a:ext>
            </a:extLst>
          </p:cNvPr>
          <p:cNvSpPr/>
          <p:nvPr/>
        </p:nvSpPr>
        <p:spPr>
          <a:xfrm>
            <a:off x="4892040" y="2331720"/>
            <a:ext cx="256032" cy="34747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a:extLst>
              <a:ext uri="{FF2B5EF4-FFF2-40B4-BE49-F238E27FC236}">
                <a16:creationId xmlns:a16="http://schemas.microsoft.com/office/drawing/2014/main" id="{AD974E0E-EDF0-5539-58BF-225344615C50}"/>
              </a:ext>
            </a:extLst>
          </p:cNvPr>
          <p:cNvSpPr/>
          <p:nvPr/>
        </p:nvSpPr>
        <p:spPr>
          <a:xfrm>
            <a:off x="5166360" y="2057400"/>
            <a:ext cx="20574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Collector Agent</a:t>
            </a:r>
          </a:p>
        </p:txBody>
      </p:sp>
      <p:sp>
        <p:nvSpPr>
          <p:cNvPr id="8" name="Right Arrow 7">
            <a:extLst>
              <a:ext uri="{FF2B5EF4-FFF2-40B4-BE49-F238E27FC236}">
                <a16:creationId xmlns:a16="http://schemas.microsoft.com/office/drawing/2014/main" id="{A2BB8335-D24C-F8CE-5528-A5258431B8A7}"/>
              </a:ext>
            </a:extLst>
          </p:cNvPr>
          <p:cNvSpPr/>
          <p:nvPr/>
        </p:nvSpPr>
        <p:spPr>
          <a:xfrm>
            <a:off x="7269480" y="2331720"/>
            <a:ext cx="256032" cy="34747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a:extLst>
              <a:ext uri="{FF2B5EF4-FFF2-40B4-BE49-F238E27FC236}">
                <a16:creationId xmlns:a16="http://schemas.microsoft.com/office/drawing/2014/main" id="{2A68C2C9-9B51-FE1A-CB01-A5D7BFFFFC9D}"/>
              </a:ext>
            </a:extLst>
          </p:cNvPr>
          <p:cNvSpPr/>
          <p:nvPr/>
        </p:nvSpPr>
        <p:spPr>
          <a:xfrm>
            <a:off x="7543800" y="2057400"/>
            <a:ext cx="20574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Tools</a:t>
            </a:r>
          </a:p>
        </p:txBody>
      </p:sp>
      <p:sp>
        <p:nvSpPr>
          <p:cNvPr id="10" name="Right Arrow 9">
            <a:extLst>
              <a:ext uri="{FF2B5EF4-FFF2-40B4-BE49-F238E27FC236}">
                <a16:creationId xmlns:a16="http://schemas.microsoft.com/office/drawing/2014/main" id="{7BF800A0-7CA7-9A41-31AC-A819E963F5DD}"/>
              </a:ext>
            </a:extLst>
          </p:cNvPr>
          <p:cNvSpPr/>
          <p:nvPr/>
        </p:nvSpPr>
        <p:spPr>
          <a:xfrm>
            <a:off x="9646920" y="2331720"/>
            <a:ext cx="256032" cy="34747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a:extLst>
              <a:ext uri="{FF2B5EF4-FFF2-40B4-BE49-F238E27FC236}">
                <a16:creationId xmlns:a16="http://schemas.microsoft.com/office/drawing/2014/main" id="{A110F504-2259-A18E-F4F2-7AD35197E239}"/>
              </a:ext>
            </a:extLst>
          </p:cNvPr>
          <p:cNvSpPr/>
          <p:nvPr/>
        </p:nvSpPr>
        <p:spPr>
          <a:xfrm>
            <a:off x="9921240" y="2057400"/>
            <a:ext cx="20574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CompanyState</a:t>
            </a:r>
          </a:p>
        </p:txBody>
      </p:sp>
    </p:spTree>
    <p:extLst>
      <p:ext uri="{BB962C8B-B14F-4D97-AF65-F5344CB8AC3E}">
        <p14:creationId xmlns:p14="http://schemas.microsoft.com/office/powerpoint/2010/main" val="2746361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5191293" cy="461665"/>
          </a:xfrm>
          <a:prstGeom prst="rect">
            <a:avLst/>
          </a:prstGeom>
          <a:noFill/>
        </p:spPr>
        <p:txBody>
          <a:bodyPr wrap="none">
            <a:spAutoFit/>
          </a:bodyPr>
          <a:lstStyle/>
          <a:p>
            <a:pPr>
              <a:defRPr sz="2700"/>
            </a:pPr>
            <a:r>
              <a:rPr lang="en-IN" sz="2400" b="1" dirty="0">
                <a:latin typeface="Times New Roman" panose="02020603050405020304" pitchFamily="18" charset="0"/>
                <a:cs typeface="Times New Roman" panose="02020603050405020304" pitchFamily="18" charset="0"/>
              </a:rPr>
              <a:t>6. TASK 1 — ANALYSIS &amp; REPORT</a:t>
            </a:r>
          </a:p>
        </p:txBody>
      </p:sp>
      <p:sp>
        <p:nvSpPr>
          <p:cNvPr id="3" name="Rounded Rectangle 2"/>
          <p:cNvSpPr/>
          <p:nvPr/>
        </p:nvSpPr>
        <p:spPr>
          <a:xfrm>
            <a:off x="411480" y="2057400"/>
            <a:ext cx="20574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CompanyState</a:t>
            </a:r>
          </a:p>
        </p:txBody>
      </p:sp>
      <p:sp>
        <p:nvSpPr>
          <p:cNvPr id="4" name="Right Arrow 3"/>
          <p:cNvSpPr/>
          <p:nvPr/>
        </p:nvSpPr>
        <p:spPr>
          <a:xfrm>
            <a:off x="2514600" y="2331720"/>
            <a:ext cx="256032" cy="34747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788920" y="2057400"/>
            <a:ext cx="20574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Analyst Agent</a:t>
            </a:r>
          </a:p>
        </p:txBody>
      </p:sp>
      <p:sp>
        <p:nvSpPr>
          <p:cNvPr id="6" name="Right Arrow 5"/>
          <p:cNvSpPr/>
          <p:nvPr/>
        </p:nvSpPr>
        <p:spPr>
          <a:xfrm>
            <a:off x="4892040" y="2331720"/>
            <a:ext cx="256032" cy="34747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166360" y="2057400"/>
            <a:ext cx="20574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Facts / Analysis</a:t>
            </a:r>
          </a:p>
        </p:txBody>
      </p:sp>
      <p:sp>
        <p:nvSpPr>
          <p:cNvPr id="8" name="Right Arrow 7"/>
          <p:cNvSpPr/>
          <p:nvPr/>
        </p:nvSpPr>
        <p:spPr>
          <a:xfrm>
            <a:off x="7269480" y="2331720"/>
            <a:ext cx="256032" cy="34747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543800" y="2057400"/>
            <a:ext cx="20574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Risks / Opportunities</a:t>
            </a:r>
          </a:p>
        </p:txBody>
      </p:sp>
      <p:sp>
        <p:nvSpPr>
          <p:cNvPr id="10" name="Right Arrow 9"/>
          <p:cNvSpPr/>
          <p:nvPr/>
        </p:nvSpPr>
        <p:spPr>
          <a:xfrm>
            <a:off x="9646920" y="2331720"/>
            <a:ext cx="256032" cy="34747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921240" y="2057400"/>
            <a:ext cx="20574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Final Report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726DCBC-C1A6-D950-D13D-0630506C9444}"/>
              </a:ext>
            </a:extLst>
          </p:cNvPr>
          <p:cNvSpPr txBox="1"/>
          <p:nvPr/>
        </p:nvSpPr>
        <p:spPr>
          <a:xfrm>
            <a:off x="393290" y="409679"/>
            <a:ext cx="11405419" cy="6130974"/>
          </a:xfrm>
          <a:prstGeom prst="rect">
            <a:avLst/>
          </a:prstGeom>
          <a:noFill/>
        </p:spPr>
        <p:txBody>
          <a:bodyPr wrap="square">
            <a:spAutoFit/>
          </a:bodyPr>
          <a:lstStyle/>
          <a:p>
            <a:pPr>
              <a:lnSpc>
                <a:spcPct val="150000"/>
              </a:lnSpc>
              <a:buNone/>
            </a:pPr>
            <a:r>
              <a:rPr lang="en-IN" sz="2400" b="1" dirty="0">
                <a:latin typeface="Times New Roman" panose="02020603050405020304" pitchFamily="18" charset="0"/>
                <a:cs typeface="Times New Roman" panose="02020603050405020304" pitchFamily="18" charset="0"/>
              </a:rPr>
              <a:t>7.INTERNAL EXECUTION SEQUENCE</a:t>
            </a:r>
          </a:p>
          <a:p>
            <a:pPr>
              <a:lnSpc>
                <a:spcPct val="150000"/>
              </a:lnSpc>
              <a:buNone/>
            </a:pPr>
            <a:r>
              <a:rPr lang="en-IN" sz="2000" b="1" dirty="0">
                <a:latin typeface="Times New Roman" panose="02020603050405020304" pitchFamily="18" charset="0"/>
                <a:cs typeface="Times New Roman" panose="02020603050405020304" pitchFamily="18" charset="0"/>
              </a:rPr>
              <a:t>1. Controller → </a:t>
            </a:r>
            <a:r>
              <a:rPr lang="en-IN" sz="2000" b="1" dirty="0" err="1">
                <a:latin typeface="Times New Roman" panose="02020603050405020304" pitchFamily="18" charset="0"/>
                <a:cs typeface="Times New Roman" panose="02020603050405020304" pitchFamily="18" charset="0"/>
              </a:rPr>
              <a:t>CompanyState</a:t>
            </a:r>
            <a:endParaRPr lang="en-IN" sz="2000" dirty="0">
              <a:latin typeface="Times New Roman" panose="02020603050405020304" pitchFamily="18" charset="0"/>
              <a:cs typeface="Times New Roman" panose="02020603050405020304" pitchFamily="18" charset="0"/>
            </a:endParaRPr>
          </a:p>
          <a:p>
            <a:pPr>
              <a:lnSpc>
                <a:spcPct val="150000"/>
              </a:lnSpc>
              <a:buNone/>
            </a:pPr>
            <a:r>
              <a:rPr lang="en-IN" sz="2000" dirty="0">
                <a:latin typeface="Times New Roman" panose="02020603050405020304" pitchFamily="18" charset="0"/>
                <a:cs typeface="Times New Roman" panose="02020603050405020304" pitchFamily="18" charset="0"/>
              </a:rPr>
              <a:t>The Controller receives the request, validates it, creates or retrieves the session, and initializes the shared </a:t>
            </a:r>
            <a:r>
              <a:rPr lang="en-IN" sz="2000" dirty="0" err="1">
                <a:latin typeface="Times New Roman" panose="02020603050405020304" pitchFamily="18" charset="0"/>
                <a:cs typeface="Times New Roman" panose="02020603050405020304" pitchFamily="18" charset="0"/>
              </a:rPr>
              <a:t>CompanyState</a:t>
            </a:r>
            <a:r>
              <a:rPr lang="en-IN" sz="2000" dirty="0">
                <a:latin typeface="Times New Roman" panose="02020603050405020304" pitchFamily="18" charset="0"/>
                <a:cs typeface="Times New Roman" panose="02020603050405020304" pitchFamily="18" charset="0"/>
              </a:rPr>
              <a:t>.</a:t>
            </a:r>
          </a:p>
          <a:p>
            <a:pPr>
              <a:lnSpc>
                <a:spcPct val="150000"/>
              </a:lnSpc>
              <a:buNone/>
            </a:pPr>
            <a:r>
              <a:rPr lang="en-IN" sz="2000" b="1" dirty="0">
                <a:latin typeface="Times New Roman" panose="02020603050405020304" pitchFamily="18" charset="0"/>
                <a:cs typeface="Times New Roman" panose="02020603050405020304" pitchFamily="18" charset="0"/>
              </a:rPr>
              <a:t>2. Data Collector → Tools</a:t>
            </a:r>
            <a:endParaRPr lang="en-IN" sz="2000" dirty="0">
              <a:latin typeface="Times New Roman" panose="02020603050405020304" pitchFamily="18" charset="0"/>
              <a:cs typeface="Times New Roman" panose="02020603050405020304" pitchFamily="18" charset="0"/>
            </a:endParaRPr>
          </a:p>
          <a:p>
            <a:pPr>
              <a:lnSpc>
                <a:spcPct val="150000"/>
              </a:lnSpc>
              <a:buNone/>
            </a:pPr>
            <a:r>
              <a:rPr lang="en-IN" sz="2000" dirty="0">
                <a:latin typeface="Times New Roman" panose="02020603050405020304" pitchFamily="18" charset="0"/>
                <a:cs typeface="Times New Roman" panose="02020603050405020304" pitchFamily="18" charset="0"/>
              </a:rPr>
              <a:t>The Data Collector Agent determines which information is required and invokes the appropriate tools:</a:t>
            </a:r>
          </a:p>
          <a:p>
            <a:pPr marL="342900" lvl="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Company Tool</a:t>
            </a:r>
            <a:r>
              <a:rPr lang="en-IN" sz="2000" dirty="0">
                <a:latin typeface="Times New Roman" panose="02020603050405020304" pitchFamily="18" charset="0"/>
                <a:cs typeface="Times New Roman" panose="02020603050405020304" pitchFamily="18" charset="0"/>
              </a:rPr>
              <a:t> → company profile and business information </a:t>
            </a:r>
          </a:p>
          <a:p>
            <a:pPr marL="342900" lvl="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News Tool</a:t>
            </a:r>
            <a:r>
              <a:rPr lang="en-IN" sz="2000" dirty="0">
                <a:latin typeface="Times New Roman" panose="02020603050405020304" pitchFamily="18" charset="0"/>
                <a:cs typeface="Times New Roman" panose="02020603050405020304" pitchFamily="18" charset="0"/>
              </a:rPr>
              <a:t> → recent news and events </a:t>
            </a:r>
          </a:p>
          <a:p>
            <a:pPr marL="342900" lvl="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Stock Tool</a:t>
            </a:r>
            <a:r>
              <a:rPr lang="en-IN" sz="2000" dirty="0">
                <a:latin typeface="Times New Roman" panose="02020603050405020304" pitchFamily="18" charset="0"/>
                <a:cs typeface="Times New Roman" panose="02020603050405020304" pitchFamily="18" charset="0"/>
              </a:rPr>
              <a:t> → market/stock information </a:t>
            </a:r>
          </a:p>
          <a:p>
            <a:pPr marL="342900" lvl="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Search Tool</a:t>
            </a:r>
            <a:r>
              <a:rPr lang="en-IN" sz="2000" dirty="0">
                <a:latin typeface="Times New Roman" panose="02020603050405020304" pitchFamily="18" charset="0"/>
                <a:cs typeface="Times New Roman" panose="02020603050405020304" pitchFamily="18" charset="0"/>
              </a:rPr>
              <a:t> → additional web information </a:t>
            </a:r>
          </a:p>
          <a:p>
            <a:pPr>
              <a:lnSpc>
                <a:spcPct val="150000"/>
              </a:lnSpc>
              <a:buNone/>
            </a:pPr>
            <a:r>
              <a:rPr lang="en-IN" sz="2000" b="1" dirty="0">
                <a:latin typeface="Times New Roman" panose="02020603050405020304" pitchFamily="18" charset="0"/>
                <a:cs typeface="Times New Roman" panose="02020603050405020304" pitchFamily="18" charset="0"/>
              </a:rPr>
              <a:t>3. Tools → </a:t>
            </a:r>
            <a:r>
              <a:rPr lang="en-IN" sz="2000" b="1" dirty="0" err="1">
                <a:latin typeface="Times New Roman" panose="02020603050405020304" pitchFamily="18" charset="0"/>
                <a:cs typeface="Times New Roman" panose="02020603050405020304" pitchFamily="18" charset="0"/>
              </a:rPr>
              <a:t>CompanyState</a:t>
            </a:r>
            <a:endParaRPr lang="en-IN" sz="2000" dirty="0">
              <a:latin typeface="Times New Roman" panose="02020603050405020304" pitchFamily="18" charset="0"/>
              <a:cs typeface="Times New Roman" panose="02020603050405020304" pitchFamily="18" charset="0"/>
            </a:endParaRPr>
          </a:p>
          <a:p>
            <a:pPr>
              <a:lnSpc>
                <a:spcPct val="150000"/>
              </a:lnSpc>
              <a:buNone/>
            </a:pPr>
            <a:r>
              <a:rPr lang="en-IN" sz="2000" dirty="0">
                <a:latin typeface="Times New Roman" panose="02020603050405020304" pitchFamily="18" charset="0"/>
                <a:cs typeface="Times New Roman" panose="02020603050405020304" pitchFamily="18" charset="0"/>
              </a:rPr>
              <a:t>Each tool returns structured information. The Data Collector stores the results in the shared state while preserving </a:t>
            </a:r>
            <a:r>
              <a:rPr lang="en-IN" sz="2000" b="1" dirty="0">
                <a:latin typeface="Times New Roman" panose="02020603050405020304" pitchFamily="18" charset="0"/>
                <a:cs typeface="Times New Roman" panose="02020603050405020304" pitchFamily="18" charset="0"/>
              </a:rPr>
              <a:t>source URLs and retrieval metadata</a:t>
            </a:r>
            <a:r>
              <a:rPr lang="en-IN" sz="20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3EF3A-89FA-617D-37CF-0F4F9E57A60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03C1073-6D7E-C1C4-8C7F-4F863CB4E3A3}"/>
              </a:ext>
            </a:extLst>
          </p:cNvPr>
          <p:cNvSpPr txBox="1"/>
          <p:nvPr/>
        </p:nvSpPr>
        <p:spPr>
          <a:xfrm>
            <a:off x="737420" y="587159"/>
            <a:ext cx="10019070" cy="4653646"/>
          </a:xfrm>
          <a:prstGeom prst="rect">
            <a:avLst/>
          </a:prstGeom>
          <a:noFill/>
        </p:spPr>
        <p:txBody>
          <a:bodyPr wrap="square">
            <a:spAutoFit/>
          </a:bodyPr>
          <a:lstStyle/>
          <a:p>
            <a:pPr>
              <a:lnSpc>
                <a:spcPct val="150000"/>
              </a:lnSpc>
              <a:buNone/>
            </a:pPr>
            <a:r>
              <a:rPr lang="en-IN" sz="2000" b="1" dirty="0">
                <a:latin typeface="Times New Roman" panose="02020603050405020304" pitchFamily="18" charset="0"/>
                <a:cs typeface="Times New Roman" panose="02020603050405020304" pitchFamily="18" charset="0"/>
              </a:rPr>
              <a:t>4. </a:t>
            </a:r>
            <a:r>
              <a:rPr lang="en-IN" sz="2000" b="1" dirty="0" err="1">
                <a:latin typeface="Times New Roman" panose="02020603050405020304" pitchFamily="18" charset="0"/>
                <a:cs typeface="Times New Roman" panose="02020603050405020304" pitchFamily="18" charset="0"/>
              </a:rPr>
              <a:t>CompanyState</a:t>
            </a:r>
            <a:r>
              <a:rPr lang="en-IN" sz="2000" b="1" dirty="0">
                <a:latin typeface="Times New Roman" panose="02020603050405020304" pitchFamily="18" charset="0"/>
                <a:cs typeface="Times New Roman" panose="02020603050405020304" pitchFamily="18" charset="0"/>
              </a:rPr>
              <a:t> → Analyst</a:t>
            </a:r>
            <a:endParaRPr lang="en-IN" sz="2000" dirty="0">
              <a:latin typeface="Times New Roman" panose="02020603050405020304" pitchFamily="18" charset="0"/>
              <a:cs typeface="Times New Roman" panose="02020603050405020304" pitchFamily="18" charset="0"/>
            </a:endParaRPr>
          </a:p>
          <a:p>
            <a:pPr>
              <a:lnSpc>
                <a:spcPct val="150000"/>
              </a:lnSpc>
              <a:buNone/>
            </a:pPr>
            <a:r>
              <a:rPr lang="en-IN" sz="2000" dirty="0">
                <a:latin typeface="Times New Roman" panose="02020603050405020304" pitchFamily="18" charset="0"/>
                <a:cs typeface="Times New Roman" panose="02020603050405020304" pitchFamily="18" charset="0"/>
              </a:rPr>
              <a:t>The Analyst Agent does not independently search for everything again. It reads the collected state and performs analysis over the available information.</a:t>
            </a:r>
          </a:p>
          <a:p>
            <a:pPr>
              <a:lnSpc>
                <a:spcPct val="150000"/>
              </a:lnSpc>
              <a:buNone/>
            </a:pPr>
            <a:r>
              <a:rPr lang="en-IN" sz="2000" b="1" dirty="0">
                <a:latin typeface="Times New Roman" panose="02020603050405020304" pitchFamily="18" charset="0"/>
                <a:cs typeface="Times New Roman" panose="02020603050405020304" pitchFamily="18" charset="0"/>
              </a:rPr>
              <a:t>5. Analyst → Validation</a:t>
            </a:r>
            <a:endParaRPr lang="en-IN" sz="2000" dirty="0">
              <a:latin typeface="Times New Roman" panose="02020603050405020304" pitchFamily="18" charset="0"/>
              <a:cs typeface="Times New Roman" panose="02020603050405020304" pitchFamily="18" charset="0"/>
            </a:endParaRPr>
          </a:p>
          <a:p>
            <a:pPr>
              <a:lnSpc>
                <a:spcPct val="150000"/>
              </a:lnSpc>
              <a:buNone/>
            </a:pPr>
            <a:r>
              <a:rPr lang="en-IN" sz="2000" dirty="0">
                <a:latin typeface="Times New Roman" panose="02020603050405020304" pitchFamily="18" charset="0"/>
                <a:cs typeface="Times New Roman" panose="02020603050405020304" pitchFamily="18" charset="0"/>
              </a:rPr>
              <a:t>The analytical output is checked for completeness, consistency, and source availability. Missing or failed tool results can be handled through fallback or retry logic.</a:t>
            </a:r>
          </a:p>
          <a:p>
            <a:pPr>
              <a:lnSpc>
                <a:spcPct val="150000"/>
              </a:lnSpc>
              <a:buNone/>
            </a:pPr>
            <a:r>
              <a:rPr lang="en-IN" sz="2000" b="1" dirty="0">
                <a:latin typeface="Times New Roman" panose="02020603050405020304" pitchFamily="18" charset="0"/>
                <a:cs typeface="Times New Roman" panose="02020603050405020304" pitchFamily="18" charset="0"/>
              </a:rPr>
              <a:t>6. Validation → Report Formatter</a:t>
            </a:r>
            <a:endParaRPr lang="en-IN" sz="2000" dirty="0">
              <a:latin typeface="Times New Roman" panose="02020603050405020304" pitchFamily="18" charset="0"/>
              <a:cs typeface="Times New Roman" panose="02020603050405020304" pitchFamily="18" charset="0"/>
            </a:endParaRPr>
          </a:p>
          <a:p>
            <a:pPr>
              <a:lnSpc>
                <a:spcPct val="150000"/>
              </a:lnSpc>
              <a:buNone/>
            </a:pPr>
            <a:r>
              <a:rPr lang="en-IN" sz="2000" dirty="0">
                <a:latin typeface="Times New Roman" panose="02020603050405020304" pitchFamily="18" charset="0"/>
                <a:cs typeface="Times New Roman" panose="02020603050405020304" pitchFamily="18" charset="0"/>
              </a:rPr>
              <a:t>The Report Formatter converts the validated state into a consistent Markdown report.</a:t>
            </a:r>
          </a:p>
          <a:p>
            <a:pPr>
              <a:lnSpc>
                <a:spcPct val="150000"/>
              </a:lnSpc>
              <a:buNone/>
            </a:pPr>
            <a:r>
              <a:rPr lang="en-IN" sz="2000" b="1" dirty="0">
                <a:latin typeface="Times New Roman" panose="02020603050405020304" pitchFamily="18" charset="0"/>
                <a:cs typeface="Times New Roman" panose="02020603050405020304" pitchFamily="18" charset="0"/>
              </a:rPr>
              <a:t>7. </a:t>
            </a:r>
            <a:r>
              <a:rPr lang="en-IN" sz="2000" b="1" dirty="0" err="1">
                <a:latin typeface="Times New Roman" panose="02020603050405020304" pitchFamily="18" charset="0"/>
                <a:cs typeface="Times New Roman" panose="02020603050405020304" pitchFamily="18" charset="0"/>
              </a:rPr>
              <a:t>FastAPI</a:t>
            </a:r>
            <a:r>
              <a:rPr lang="en-IN" sz="2000" b="1" dirty="0">
                <a:latin typeface="Times New Roman" panose="02020603050405020304" pitchFamily="18" charset="0"/>
                <a:cs typeface="Times New Roman" panose="02020603050405020304" pitchFamily="18" charset="0"/>
              </a:rPr>
              <a:t> → Client</a:t>
            </a:r>
            <a:endParaRPr lang="en-IN" sz="2000" dirty="0">
              <a:latin typeface="Times New Roman" panose="02020603050405020304" pitchFamily="18" charset="0"/>
              <a:cs typeface="Times New Roman" panose="02020603050405020304" pitchFamily="18" charset="0"/>
            </a:endParaRPr>
          </a:p>
          <a:p>
            <a:pPr>
              <a:lnSpc>
                <a:spcPct val="150000"/>
              </a:lnSpc>
              <a:buNone/>
            </a:pPr>
            <a:r>
              <a:rPr lang="en-IN" sz="2000" dirty="0" err="1">
                <a:latin typeface="Times New Roman" panose="02020603050405020304" pitchFamily="18" charset="0"/>
                <a:cs typeface="Times New Roman" panose="02020603050405020304" pitchFamily="18" charset="0"/>
              </a:rPr>
              <a:t>FastAPI</a:t>
            </a:r>
            <a:r>
              <a:rPr lang="en-IN" sz="2000" dirty="0">
                <a:latin typeface="Times New Roman" panose="02020603050405020304" pitchFamily="18" charset="0"/>
                <a:cs typeface="Times New Roman" panose="02020603050405020304" pitchFamily="18" charset="0"/>
              </a:rPr>
              <a:t> returns the final structured response to the Streamlit/browser interface</a:t>
            </a:r>
          </a:p>
        </p:txBody>
      </p:sp>
    </p:spTree>
    <p:extLst>
      <p:ext uri="{BB962C8B-B14F-4D97-AF65-F5344CB8AC3E}">
        <p14:creationId xmlns:p14="http://schemas.microsoft.com/office/powerpoint/2010/main" val="2096483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398698"/>
            <a:ext cx="4806572" cy="461665"/>
          </a:xfrm>
          <a:prstGeom prst="rect">
            <a:avLst/>
          </a:prstGeom>
          <a:noFill/>
        </p:spPr>
        <p:txBody>
          <a:bodyPr wrap="none">
            <a:spAutoFit/>
          </a:bodyPr>
          <a:lstStyle/>
          <a:p>
            <a:pPr>
              <a:defRPr sz="2700"/>
            </a:pPr>
            <a:r>
              <a:rPr lang="en-US" sz="2400" b="1" dirty="0">
                <a:latin typeface="Times New Roman" panose="02020603050405020304" pitchFamily="18" charset="0"/>
                <a:cs typeface="Times New Roman" panose="02020603050405020304" pitchFamily="18" charset="0"/>
              </a:rPr>
              <a:t>8. TASK 2 — KNOWLEDGE BOT</a:t>
            </a:r>
          </a:p>
        </p:txBody>
      </p:sp>
      <p:sp>
        <p:nvSpPr>
          <p:cNvPr id="3" name="Rounded Rectangle 2"/>
          <p:cNvSpPr/>
          <p:nvPr/>
        </p:nvSpPr>
        <p:spPr>
          <a:xfrm>
            <a:off x="411480" y="2057400"/>
            <a:ext cx="20574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User</a:t>
            </a:r>
          </a:p>
        </p:txBody>
      </p:sp>
      <p:sp>
        <p:nvSpPr>
          <p:cNvPr id="4" name="Right Arrow 3"/>
          <p:cNvSpPr/>
          <p:nvPr/>
        </p:nvSpPr>
        <p:spPr>
          <a:xfrm>
            <a:off x="2514600" y="2331720"/>
            <a:ext cx="256032" cy="34747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788920" y="2057400"/>
            <a:ext cx="20574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Streamlit</a:t>
            </a:r>
          </a:p>
        </p:txBody>
      </p:sp>
      <p:sp>
        <p:nvSpPr>
          <p:cNvPr id="6" name="Right Arrow 5"/>
          <p:cNvSpPr/>
          <p:nvPr/>
        </p:nvSpPr>
        <p:spPr>
          <a:xfrm>
            <a:off x="4892040" y="2331720"/>
            <a:ext cx="256032" cy="34747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166360" y="2057400"/>
            <a:ext cx="20574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FastAPI</a:t>
            </a:r>
          </a:p>
        </p:txBody>
      </p:sp>
      <p:sp>
        <p:nvSpPr>
          <p:cNvPr id="8" name="Right Arrow 7"/>
          <p:cNvSpPr/>
          <p:nvPr/>
        </p:nvSpPr>
        <p:spPr>
          <a:xfrm>
            <a:off x="7269480" y="2331720"/>
            <a:ext cx="256032" cy="34747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543800" y="2057400"/>
            <a:ext cx="20574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Memory</a:t>
            </a:r>
          </a:p>
        </p:txBody>
      </p:sp>
      <p:sp>
        <p:nvSpPr>
          <p:cNvPr id="10" name="Right Arrow 9"/>
          <p:cNvSpPr/>
          <p:nvPr/>
        </p:nvSpPr>
        <p:spPr>
          <a:xfrm>
            <a:off x="9646920" y="2331720"/>
            <a:ext cx="256032" cy="34747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921240" y="2057400"/>
            <a:ext cx="20574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Search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5853975" cy="461665"/>
          </a:xfrm>
          <a:prstGeom prst="rect">
            <a:avLst/>
          </a:prstGeom>
          <a:noFill/>
        </p:spPr>
        <p:txBody>
          <a:bodyPr wrap="none">
            <a:spAutoFit/>
          </a:bodyPr>
          <a:lstStyle/>
          <a:p>
            <a:pPr>
              <a:defRPr sz="2700"/>
            </a:pPr>
            <a:r>
              <a:rPr lang="en-IN" sz="2400" b="1" dirty="0">
                <a:latin typeface="Times New Roman" panose="02020603050405020304" pitchFamily="18" charset="0"/>
                <a:cs typeface="Times New Roman" panose="02020603050405020304" pitchFamily="18" charset="0"/>
              </a:rPr>
              <a:t>9. TASK 2 — CONTEXTUAL RESPONSE</a:t>
            </a:r>
          </a:p>
        </p:txBody>
      </p:sp>
      <p:sp>
        <p:nvSpPr>
          <p:cNvPr id="3" name="Rounded Rectangle 2"/>
          <p:cNvSpPr/>
          <p:nvPr/>
        </p:nvSpPr>
        <p:spPr>
          <a:xfrm>
            <a:off x="411480" y="2057400"/>
            <a:ext cx="20574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Resolved Query</a:t>
            </a:r>
          </a:p>
        </p:txBody>
      </p:sp>
      <p:sp>
        <p:nvSpPr>
          <p:cNvPr id="4" name="Right Arrow 3"/>
          <p:cNvSpPr/>
          <p:nvPr/>
        </p:nvSpPr>
        <p:spPr>
          <a:xfrm>
            <a:off x="2514600" y="2331720"/>
            <a:ext cx="256032" cy="34747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788920" y="2057400"/>
            <a:ext cx="20574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Knowledge Search</a:t>
            </a:r>
          </a:p>
        </p:txBody>
      </p:sp>
      <p:sp>
        <p:nvSpPr>
          <p:cNvPr id="6" name="Right Arrow 5"/>
          <p:cNvSpPr/>
          <p:nvPr/>
        </p:nvSpPr>
        <p:spPr>
          <a:xfrm>
            <a:off x="4892040" y="2331720"/>
            <a:ext cx="256032" cy="34747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166360" y="2057400"/>
            <a:ext cx="20574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LLM Factory</a:t>
            </a:r>
          </a:p>
        </p:txBody>
      </p:sp>
      <p:sp>
        <p:nvSpPr>
          <p:cNvPr id="8" name="Right Arrow 7"/>
          <p:cNvSpPr/>
          <p:nvPr/>
        </p:nvSpPr>
        <p:spPr>
          <a:xfrm>
            <a:off x="7269480" y="2331720"/>
            <a:ext cx="256032" cy="34747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543800" y="2057400"/>
            <a:ext cx="2057400"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400"/>
            </a:pPr>
            <a:r>
              <a:t>Answer + Sources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428CCFEB-ADD0-5C5E-5793-6A6DFC30CC25}"/>
              </a:ext>
            </a:extLst>
          </p:cNvPr>
          <p:cNvGraphicFramePr>
            <a:graphicFrameLocks noGrp="1"/>
          </p:cNvGraphicFramePr>
          <p:nvPr>
            <p:extLst>
              <p:ext uri="{D42A27DB-BD31-4B8C-83A1-F6EECF244321}">
                <p14:modId xmlns:p14="http://schemas.microsoft.com/office/powerpoint/2010/main" val="4119936964"/>
              </p:ext>
            </p:extLst>
          </p:nvPr>
        </p:nvGraphicFramePr>
        <p:xfrm>
          <a:off x="1032387" y="865238"/>
          <a:ext cx="10668000" cy="5830528"/>
        </p:xfrm>
        <a:graphic>
          <a:graphicData uri="http://schemas.openxmlformats.org/drawingml/2006/table">
            <a:tbl>
              <a:tblPr>
                <a:tableStyleId>{5C22544A-7EE6-4342-B048-85BDC9FD1C3A}</a:tableStyleId>
              </a:tblPr>
              <a:tblGrid>
                <a:gridCol w="5334000">
                  <a:extLst>
                    <a:ext uri="{9D8B030D-6E8A-4147-A177-3AD203B41FA5}">
                      <a16:colId xmlns:a16="http://schemas.microsoft.com/office/drawing/2014/main" val="1846411309"/>
                    </a:ext>
                  </a:extLst>
                </a:gridCol>
                <a:gridCol w="5334000">
                  <a:extLst>
                    <a:ext uri="{9D8B030D-6E8A-4147-A177-3AD203B41FA5}">
                      <a16:colId xmlns:a16="http://schemas.microsoft.com/office/drawing/2014/main" val="2403672742"/>
                    </a:ext>
                  </a:extLst>
                </a:gridCol>
              </a:tblGrid>
              <a:tr h="336323">
                <a:tc>
                  <a:txBody>
                    <a:bodyPr/>
                    <a:lstStyle/>
                    <a:p>
                      <a:pPr>
                        <a:buNone/>
                      </a:pPr>
                      <a:r>
                        <a:rPr lang="en-IN" sz="1300">
                          <a:latin typeface="Times New Roman" panose="02020603050405020304" pitchFamily="18" charset="0"/>
                          <a:cs typeface="Times New Roman" panose="02020603050405020304" pitchFamily="18" charset="0"/>
                        </a:rPr>
                        <a:t>Component</a:t>
                      </a:r>
                    </a:p>
                  </a:txBody>
                  <a:tcPr marL="63746" marR="63746" marT="31873" marB="31873" anchor="ctr"/>
                </a:tc>
                <a:tc>
                  <a:txBody>
                    <a:bodyPr/>
                    <a:lstStyle/>
                    <a:p>
                      <a:pPr>
                        <a:buNone/>
                      </a:pPr>
                      <a:r>
                        <a:rPr lang="en-IN" sz="1300">
                          <a:latin typeface="Times New Roman" panose="02020603050405020304" pitchFamily="18" charset="0"/>
                          <a:cs typeface="Times New Roman" panose="02020603050405020304" pitchFamily="18" charset="0"/>
                        </a:rPr>
                        <a:t>Responsibility</a:t>
                      </a:r>
                    </a:p>
                  </a:txBody>
                  <a:tcPr marL="63746" marR="63746" marT="31873" marB="31873" anchor="ctr"/>
                </a:tc>
                <a:extLst>
                  <a:ext uri="{0D108BD9-81ED-4DB2-BD59-A6C34878D82A}">
                    <a16:rowId xmlns:a16="http://schemas.microsoft.com/office/drawing/2014/main" val="544934452"/>
                  </a:ext>
                </a:extLst>
              </a:tr>
              <a:tr h="573098">
                <a:tc>
                  <a:txBody>
                    <a:bodyPr/>
                    <a:lstStyle/>
                    <a:p>
                      <a:pPr>
                        <a:buNone/>
                      </a:pPr>
                      <a:r>
                        <a:rPr lang="en-IN" sz="1300" dirty="0">
                          <a:latin typeface="Times New Roman" panose="02020603050405020304" pitchFamily="18" charset="0"/>
                          <a:cs typeface="Times New Roman" panose="02020603050405020304" pitchFamily="18" charset="0"/>
                        </a:rPr>
                        <a:t>Conversation Memory Manager</a:t>
                      </a:r>
                    </a:p>
                  </a:txBody>
                  <a:tcPr marL="63746" marR="63746" marT="31873" marB="31873" anchor="ctr"/>
                </a:tc>
                <a:tc>
                  <a:txBody>
                    <a:bodyPr/>
                    <a:lstStyle/>
                    <a:p>
                      <a:pPr>
                        <a:buNone/>
                      </a:pPr>
                      <a:r>
                        <a:rPr lang="en-IN" sz="1300" dirty="0">
                          <a:latin typeface="Times New Roman" panose="02020603050405020304" pitchFamily="18" charset="0"/>
                          <a:cs typeface="Times New Roman" panose="02020603050405020304" pitchFamily="18" charset="0"/>
                        </a:rPr>
                        <a:t>Maintains relevant previous dialogue and session context</a:t>
                      </a:r>
                    </a:p>
                  </a:txBody>
                  <a:tcPr marL="63746" marR="63746" marT="31873" marB="31873" anchor="ctr"/>
                </a:tc>
                <a:extLst>
                  <a:ext uri="{0D108BD9-81ED-4DB2-BD59-A6C34878D82A}">
                    <a16:rowId xmlns:a16="http://schemas.microsoft.com/office/drawing/2014/main" val="1148029798"/>
                  </a:ext>
                </a:extLst>
              </a:tr>
              <a:tr h="573098">
                <a:tc>
                  <a:txBody>
                    <a:bodyPr/>
                    <a:lstStyle/>
                    <a:p>
                      <a:pPr>
                        <a:buNone/>
                      </a:pPr>
                      <a:r>
                        <a:rPr lang="en-IN" sz="1300" dirty="0">
                          <a:latin typeface="Times New Roman" panose="02020603050405020304" pitchFamily="18" charset="0"/>
                          <a:cs typeface="Times New Roman" panose="02020603050405020304" pitchFamily="18" charset="0"/>
                        </a:rPr>
                        <a:t>Pronoun Query Resolver</a:t>
                      </a:r>
                    </a:p>
                  </a:txBody>
                  <a:tcPr marL="63746" marR="63746" marT="31873" marB="31873" anchor="ctr"/>
                </a:tc>
                <a:tc>
                  <a:txBody>
                    <a:bodyPr/>
                    <a:lstStyle/>
                    <a:p>
                      <a:pPr>
                        <a:buNone/>
                      </a:pPr>
                      <a:r>
                        <a:rPr lang="en-IN" sz="1300">
                          <a:latin typeface="Times New Roman" panose="02020603050405020304" pitchFamily="18" charset="0"/>
                          <a:cs typeface="Times New Roman" panose="02020603050405020304" pitchFamily="18" charset="0"/>
                        </a:rPr>
                        <a:t>Converts context-dependent follow-ups into explicit queries</a:t>
                      </a:r>
                    </a:p>
                  </a:txBody>
                  <a:tcPr marL="63746" marR="63746" marT="31873" marB="31873" anchor="ctr"/>
                </a:tc>
                <a:extLst>
                  <a:ext uri="{0D108BD9-81ED-4DB2-BD59-A6C34878D82A}">
                    <a16:rowId xmlns:a16="http://schemas.microsoft.com/office/drawing/2014/main" val="1254608263"/>
                  </a:ext>
                </a:extLst>
              </a:tr>
              <a:tr h="573098">
                <a:tc>
                  <a:txBody>
                    <a:bodyPr/>
                    <a:lstStyle/>
                    <a:p>
                      <a:pPr>
                        <a:buNone/>
                      </a:pPr>
                      <a:r>
                        <a:rPr lang="en-IN" sz="1300">
                          <a:latin typeface="Times New Roman" panose="02020603050405020304" pitchFamily="18" charset="0"/>
                          <a:cs typeface="Times New Roman" panose="02020603050405020304" pitchFamily="18" charset="0"/>
                        </a:rPr>
                        <a:t>Retrieval Router</a:t>
                      </a:r>
                    </a:p>
                  </a:txBody>
                  <a:tcPr marL="63746" marR="63746" marT="31873" marB="31873" anchor="ctr"/>
                </a:tc>
                <a:tc>
                  <a:txBody>
                    <a:bodyPr/>
                    <a:lstStyle/>
                    <a:p>
                      <a:pPr>
                        <a:buNone/>
                      </a:pPr>
                      <a:r>
                        <a:rPr lang="en-IN" sz="1300">
                          <a:latin typeface="Times New Roman" panose="02020603050405020304" pitchFamily="18" charset="0"/>
                          <a:cs typeface="Times New Roman" panose="02020603050405020304" pitchFamily="18" charset="0"/>
                        </a:rPr>
                        <a:t>Selects appropriate knowledge/retrieval sources</a:t>
                      </a:r>
                    </a:p>
                  </a:txBody>
                  <a:tcPr marL="63746" marR="63746" marT="31873" marB="31873" anchor="ctr"/>
                </a:tc>
                <a:extLst>
                  <a:ext uri="{0D108BD9-81ED-4DB2-BD59-A6C34878D82A}">
                    <a16:rowId xmlns:a16="http://schemas.microsoft.com/office/drawing/2014/main" val="4014844741"/>
                  </a:ext>
                </a:extLst>
              </a:tr>
              <a:tr h="336323">
                <a:tc>
                  <a:txBody>
                    <a:bodyPr/>
                    <a:lstStyle/>
                    <a:p>
                      <a:pPr>
                        <a:buNone/>
                      </a:pPr>
                      <a:r>
                        <a:rPr lang="en-IN" sz="1300">
                          <a:latin typeface="Times New Roman" panose="02020603050405020304" pitchFamily="18" charset="0"/>
                          <a:cs typeface="Times New Roman" panose="02020603050405020304" pitchFamily="18" charset="0"/>
                        </a:rPr>
                        <a:t>Wikipedia</a:t>
                      </a:r>
                    </a:p>
                  </a:txBody>
                  <a:tcPr marL="63746" marR="63746" marT="31873" marB="31873" anchor="ctr"/>
                </a:tc>
                <a:tc>
                  <a:txBody>
                    <a:bodyPr/>
                    <a:lstStyle/>
                    <a:p>
                      <a:pPr>
                        <a:buNone/>
                      </a:pPr>
                      <a:r>
                        <a:rPr lang="en-IN" sz="1300">
                          <a:latin typeface="Times New Roman" panose="02020603050405020304" pitchFamily="18" charset="0"/>
                          <a:cs typeface="Times New Roman" panose="02020603050405020304" pitchFamily="18" charset="0"/>
                        </a:rPr>
                        <a:t>Provides general/reference knowledge</a:t>
                      </a:r>
                    </a:p>
                  </a:txBody>
                  <a:tcPr marL="63746" marR="63746" marT="31873" marB="31873" anchor="ctr"/>
                </a:tc>
                <a:extLst>
                  <a:ext uri="{0D108BD9-81ED-4DB2-BD59-A6C34878D82A}">
                    <a16:rowId xmlns:a16="http://schemas.microsoft.com/office/drawing/2014/main" val="2274072983"/>
                  </a:ext>
                </a:extLst>
              </a:tr>
              <a:tr h="573098">
                <a:tc>
                  <a:txBody>
                    <a:bodyPr/>
                    <a:lstStyle/>
                    <a:p>
                      <a:pPr>
                        <a:buNone/>
                      </a:pPr>
                      <a:r>
                        <a:rPr lang="en-IN" sz="1300">
                          <a:latin typeface="Times New Roman" panose="02020603050405020304" pitchFamily="18" charset="0"/>
                          <a:cs typeface="Times New Roman" panose="02020603050405020304" pitchFamily="18" charset="0"/>
                        </a:rPr>
                        <a:t>DuckDuckGo</a:t>
                      </a:r>
                    </a:p>
                  </a:txBody>
                  <a:tcPr marL="63746" marR="63746" marT="31873" marB="31873" anchor="ctr"/>
                </a:tc>
                <a:tc>
                  <a:txBody>
                    <a:bodyPr/>
                    <a:lstStyle/>
                    <a:p>
                      <a:pPr>
                        <a:buNone/>
                      </a:pPr>
                      <a:r>
                        <a:rPr lang="en-IN" sz="1300">
                          <a:latin typeface="Times New Roman" panose="02020603050405020304" pitchFamily="18" charset="0"/>
                          <a:cs typeface="Times New Roman" panose="02020603050405020304" pitchFamily="18" charset="0"/>
                        </a:rPr>
                        <a:t>Retrieves web information relevant to the current query</a:t>
                      </a:r>
                    </a:p>
                  </a:txBody>
                  <a:tcPr marL="63746" marR="63746" marT="31873" marB="31873" anchor="ctr"/>
                </a:tc>
                <a:extLst>
                  <a:ext uri="{0D108BD9-81ED-4DB2-BD59-A6C34878D82A}">
                    <a16:rowId xmlns:a16="http://schemas.microsoft.com/office/drawing/2014/main" val="3142681052"/>
                  </a:ext>
                </a:extLst>
              </a:tr>
              <a:tr h="573098">
                <a:tc>
                  <a:txBody>
                    <a:bodyPr/>
                    <a:lstStyle/>
                    <a:p>
                      <a:pPr>
                        <a:buNone/>
                      </a:pPr>
                      <a:r>
                        <a:rPr lang="en-IN" sz="1300">
                          <a:latin typeface="Times New Roman" panose="02020603050405020304" pitchFamily="18" charset="0"/>
                          <a:cs typeface="Times New Roman" panose="02020603050405020304" pitchFamily="18" charset="0"/>
                        </a:rPr>
                        <a:t>RAG / Knowledge Base</a:t>
                      </a:r>
                    </a:p>
                  </a:txBody>
                  <a:tcPr marL="63746" marR="63746" marT="31873" marB="31873" anchor="ctr"/>
                </a:tc>
                <a:tc>
                  <a:txBody>
                    <a:bodyPr/>
                    <a:lstStyle/>
                    <a:p>
                      <a:pPr>
                        <a:buNone/>
                      </a:pPr>
                      <a:r>
                        <a:rPr lang="en-IN" sz="1300">
                          <a:latin typeface="Times New Roman" panose="02020603050405020304" pitchFamily="18" charset="0"/>
                          <a:cs typeface="Times New Roman" panose="02020603050405020304" pitchFamily="18" charset="0"/>
                        </a:rPr>
                        <a:t>Retrieves relevant indexed internal documents when available</a:t>
                      </a:r>
                    </a:p>
                  </a:txBody>
                  <a:tcPr marL="63746" marR="63746" marT="31873" marB="31873" anchor="ctr"/>
                </a:tc>
                <a:extLst>
                  <a:ext uri="{0D108BD9-81ED-4DB2-BD59-A6C34878D82A}">
                    <a16:rowId xmlns:a16="http://schemas.microsoft.com/office/drawing/2014/main" val="1523005123"/>
                  </a:ext>
                </a:extLst>
              </a:tr>
              <a:tr h="573098">
                <a:tc>
                  <a:txBody>
                    <a:bodyPr/>
                    <a:lstStyle/>
                    <a:p>
                      <a:pPr>
                        <a:buNone/>
                      </a:pPr>
                      <a:r>
                        <a:rPr lang="en-IN" sz="1300">
                          <a:latin typeface="Times New Roman" panose="02020603050405020304" pitchFamily="18" charset="0"/>
                          <a:cs typeface="Times New Roman" panose="02020603050405020304" pitchFamily="18" charset="0"/>
                        </a:rPr>
                        <a:t>Context Builder</a:t>
                      </a:r>
                    </a:p>
                  </a:txBody>
                  <a:tcPr marL="63746" marR="63746" marT="31873" marB="31873" anchor="ctr"/>
                </a:tc>
                <a:tc>
                  <a:txBody>
                    <a:bodyPr/>
                    <a:lstStyle/>
                    <a:p>
                      <a:pPr>
                        <a:buNone/>
                      </a:pPr>
                      <a:r>
                        <a:rPr lang="en-IN" sz="1300">
                          <a:latin typeface="Times New Roman" panose="02020603050405020304" pitchFamily="18" charset="0"/>
                          <a:cs typeface="Times New Roman" panose="02020603050405020304" pitchFamily="18" charset="0"/>
                        </a:rPr>
                        <a:t>Combines conversation history and retrieved information</a:t>
                      </a:r>
                    </a:p>
                  </a:txBody>
                  <a:tcPr marL="63746" marR="63746" marT="31873" marB="31873" anchor="ctr"/>
                </a:tc>
                <a:extLst>
                  <a:ext uri="{0D108BD9-81ED-4DB2-BD59-A6C34878D82A}">
                    <a16:rowId xmlns:a16="http://schemas.microsoft.com/office/drawing/2014/main" val="2482065689"/>
                  </a:ext>
                </a:extLst>
              </a:tr>
              <a:tr h="573098">
                <a:tc>
                  <a:txBody>
                    <a:bodyPr/>
                    <a:lstStyle/>
                    <a:p>
                      <a:pPr>
                        <a:buNone/>
                      </a:pPr>
                      <a:r>
                        <a:rPr lang="en-IN" sz="1300">
                          <a:latin typeface="Times New Roman" panose="02020603050405020304" pitchFamily="18" charset="0"/>
                          <a:cs typeface="Times New Roman" panose="02020603050405020304" pitchFamily="18" charset="0"/>
                        </a:rPr>
                        <a:t>LLM</a:t>
                      </a:r>
                    </a:p>
                  </a:txBody>
                  <a:tcPr marL="63746" marR="63746" marT="31873" marB="31873" anchor="ctr"/>
                </a:tc>
                <a:tc>
                  <a:txBody>
                    <a:bodyPr/>
                    <a:lstStyle/>
                    <a:p>
                      <a:pPr>
                        <a:buNone/>
                      </a:pPr>
                      <a:r>
                        <a:rPr lang="en-IN" sz="1300">
                          <a:latin typeface="Times New Roman" panose="02020603050405020304" pitchFamily="18" charset="0"/>
                          <a:cs typeface="Times New Roman" panose="02020603050405020304" pitchFamily="18" charset="0"/>
                        </a:rPr>
                        <a:t>Reasons over the assembled context and generates the response</a:t>
                      </a:r>
                    </a:p>
                  </a:txBody>
                  <a:tcPr marL="63746" marR="63746" marT="31873" marB="31873" anchor="ctr"/>
                </a:tc>
                <a:extLst>
                  <a:ext uri="{0D108BD9-81ED-4DB2-BD59-A6C34878D82A}">
                    <a16:rowId xmlns:a16="http://schemas.microsoft.com/office/drawing/2014/main" val="282193454"/>
                  </a:ext>
                </a:extLst>
              </a:tr>
              <a:tr h="573098">
                <a:tc>
                  <a:txBody>
                    <a:bodyPr/>
                    <a:lstStyle/>
                    <a:p>
                      <a:pPr>
                        <a:buNone/>
                      </a:pPr>
                      <a:r>
                        <a:rPr lang="en-IN" sz="1300">
                          <a:latin typeface="Times New Roman" panose="02020603050405020304" pitchFamily="18" charset="0"/>
                          <a:cs typeface="Times New Roman" panose="02020603050405020304" pitchFamily="18" charset="0"/>
                        </a:rPr>
                        <a:t>Source Manager</a:t>
                      </a:r>
                    </a:p>
                  </a:txBody>
                  <a:tcPr marL="63746" marR="63746" marT="31873" marB="31873" anchor="ctr"/>
                </a:tc>
                <a:tc>
                  <a:txBody>
                    <a:bodyPr/>
                    <a:lstStyle/>
                    <a:p>
                      <a:pPr>
                        <a:buNone/>
                      </a:pPr>
                      <a:r>
                        <a:rPr lang="en-IN" sz="1300">
                          <a:latin typeface="Times New Roman" panose="02020603050405020304" pitchFamily="18" charset="0"/>
                          <a:cs typeface="Times New Roman" panose="02020603050405020304" pitchFamily="18" charset="0"/>
                        </a:rPr>
                        <a:t>Preserves URLs and associates retrieved information with sources</a:t>
                      </a:r>
                    </a:p>
                  </a:txBody>
                  <a:tcPr marL="63746" marR="63746" marT="31873" marB="31873" anchor="ctr"/>
                </a:tc>
                <a:extLst>
                  <a:ext uri="{0D108BD9-81ED-4DB2-BD59-A6C34878D82A}">
                    <a16:rowId xmlns:a16="http://schemas.microsoft.com/office/drawing/2014/main" val="327491371"/>
                  </a:ext>
                </a:extLst>
              </a:tr>
              <a:tr h="573098">
                <a:tc>
                  <a:txBody>
                    <a:bodyPr/>
                    <a:lstStyle/>
                    <a:p>
                      <a:pPr>
                        <a:buNone/>
                      </a:pPr>
                      <a:r>
                        <a:rPr lang="en-IN" sz="1300">
                          <a:latin typeface="Times New Roman" panose="02020603050405020304" pitchFamily="18" charset="0"/>
                          <a:cs typeface="Times New Roman" panose="02020603050405020304" pitchFamily="18" charset="0"/>
                        </a:rPr>
                        <a:t>Memory Update</a:t>
                      </a:r>
                    </a:p>
                  </a:txBody>
                  <a:tcPr marL="63746" marR="63746" marT="31873" marB="31873" anchor="ctr"/>
                </a:tc>
                <a:tc>
                  <a:txBody>
                    <a:bodyPr/>
                    <a:lstStyle/>
                    <a:p>
                      <a:pPr>
                        <a:buNone/>
                      </a:pPr>
                      <a:r>
                        <a:rPr lang="en-IN" sz="1300" dirty="0">
                          <a:latin typeface="Times New Roman" panose="02020603050405020304" pitchFamily="18" charset="0"/>
                          <a:cs typeface="Times New Roman" panose="02020603050405020304" pitchFamily="18" charset="0"/>
                        </a:rPr>
                        <a:t>Stores useful conversational context for subsequent queries</a:t>
                      </a:r>
                    </a:p>
                  </a:txBody>
                  <a:tcPr marL="63746" marR="63746" marT="31873" marB="31873" anchor="ctr"/>
                </a:tc>
                <a:extLst>
                  <a:ext uri="{0D108BD9-81ED-4DB2-BD59-A6C34878D82A}">
                    <a16:rowId xmlns:a16="http://schemas.microsoft.com/office/drawing/2014/main" val="2730884506"/>
                  </a:ext>
                </a:extLst>
              </a:tr>
            </a:tbl>
          </a:graphicData>
        </a:graphic>
      </p:graphicFrame>
      <p:sp>
        <p:nvSpPr>
          <p:cNvPr id="14" name="TextBox 13">
            <a:extLst>
              <a:ext uri="{FF2B5EF4-FFF2-40B4-BE49-F238E27FC236}">
                <a16:creationId xmlns:a16="http://schemas.microsoft.com/office/drawing/2014/main" id="{DFCF0204-85F1-88B3-A3CD-7E0CF7A23D97}"/>
              </a:ext>
            </a:extLst>
          </p:cNvPr>
          <p:cNvSpPr txBox="1"/>
          <p:nvPr/>
        </p:nvSpPr>
        <p:spPr>
          <a:xfrm>
            <a:off x="1032387" y="162234"/>
            <a:ext cx="60960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10. CONTEXT &amp; RETRIEVAL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75A34DE-CD1E-B874-2F49-B0618BDB7378}"/>
              </a:ext>
            </a:extLst>
          </p:cNvPr>
          <p:cNvPicPr>
            <a:picLocks noChangeAspect="1"/>
          </p:cNvPicPr>
          <p:nvPr/>
        </p:nvPicPr>
        <p:blipFill>
          <a:blip r:embed="rId2"/>
          <a:stretch>
            <a:fillRect/>
          </a:stretch>
        </p:blipFill>
        <p:spPr>
          <a:xfrm>
            <a:off x="3382296" y="1356852"/>
            <a:ext cx="5820697" cy="5501147"/>
          </a:xfrm>
          <a:prstGeom prst="rect">
            <a:avLst/>
          </a:prstGeom>
        </p:spPr>
      </p:pic>
      <p:sp>
        <p:nvSpPr>
          <p:cNvPr id="12" name="TextBox 11">
            <a:extLst>
              <a:ext uri="{FF2B5EF4-FFF2-40B4-BE49-F238E27FC236}">
                <a16:creationId xmlns:a16="http://schemas.microsoft.com/office/drawing/2014/main" id="{FCB55127-9DCC-45DD-8721-2E8E84900D20}"/>
              </a:ext>
            </a:extLst>
          </p:cNvPr>
          <p:cNvSpPr txBox="1"/>
          <p:nvPr/>
        </p:nvSpPr>
        <p:spPr>
          <a:xfrm>
            <a:off x="924232" y="572418"/>
            <a:ext cx="60960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11. LLM PROVIDER ABSTRACTION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7E87667-372B-7711-25EC-EDC7DF4D107E}"/>
              </a:ext>
            </a:extLst>
          </p:cNvPr>
          <p:cNvGraphicFramePr>
            <a:graphicFrameLocks noGrp="1"/>
          </p:cNvGraphicFramePr>
          <p:nvPr>
            <p:extLst>
              <p:ext uri="{D42A27DB-BD31-4B8C-83A1-F6EECF244321}">
                <p14:modId xmlns:p14="http://schemas.microsoft.com/office/powerpoint/2010/main" val="3234374075"/>
              </p:ext>
            </p:extLst>
          </p:nvPr>
        </p:nvGraphicFramePr>
        <p:xfrm>
          <a:off x="1189703" y="1307689"/>
          <a:ext cx="9891252" cy="5338917"/>
        </p:xfrm>
        <a:graphic>
          <a:graphicData uri="http://schemas.openxmlformats.org/drawingml/2006/table">
            <a:tbl>
              <a:tblPr>
                <a:tableStyleId>{5C22544A-7EE6-4342-B048-85BDC9FD1C3A}</a:tableStyleId>
              </a:tblPr>
              <a:tblGrid>
                <a:gridCol w="2472813">
                  <a:extLst>
                    <a:ext uri="{9D8B030D-6E8A-4147-A177-3AD203B41FA5}">
                      <a16:colId xmlns:a16="http://schemas.microsoft.com/office/drawing/2014/main" val="1903672032"/>
                    </a:ext>
                  </a:extLst>
                </a:gridCol>
                <a:gridCol w="2472813">
                  <a:extLst>
                    <a:ext uri="{9D8B030D-6E8A-4147-A177-3AD203B41FA5}">
                      <a16:colId xmlns:a16="http://schemas.microsoft.com/office/drawing/2014/main" val="2417099683"/>
                    </a:ext>
                  </a:extLst>
                </a:gridCol>
                <a:gridCol w="2472813">
                  <a:extLst>
                    <a:ext uri="{9D8B030D-6E8A-4147-A177-3AD203B41FA5}">
                      <a16:colId xmlns:a16="http://schemas.microsoft.com/office/drawing/2014/main" val="2508728231"/>
                    </a:ext>
                  </a:extLst>
                </a:gridCol>
                <a:gridCol w="2472813">
                  <a:extLst>
                    <a:ext uri="{9D8B030D-6E8A-4147-A177-3AD203B41FA5}">
                      <a16:colId xmlns:a16="http://schemas.microsoft.com/office/drawing/2014/main" val="54238925"/>
                    </a:ext>
                  </a:extLst>
                </a:gridCol>
              </a:tblGrid>
              <a:tr h="520870">
                <a:tc>
                  <a:txBody>
                    <a:bodyPr/>
                    <a:lstStyle/>
                    <a:p>
                      <a:pPr>
                        <a:buNone/>
                      </a:pPr>
                      <a:r>
                        <a:rPr lang="en-IN"/>
                        <a:t>Method</a:t>
                      </a:r>
                    </a:p>
                  </a:txBody>
                  <a:tcPr anchor="ctr"/>
                </a:tc>
                <a:tc>
                  <a:txBody>
                    <a:bodyPr/>
                    <a:lstStyle/>
                    <a:p>
                      <a:pPr>
                        <a:buNone/>
                      </a:pPr>
                      <a:r>
                        <a:rPr lang="en-IN" dirty="0"/>
                        <a:t>Endpoint</a:t>
                      </a:r>
                    </a:p>
                  </a:txBody>
                  <a:tcPr anchor="ctr"/>
                </a:tc>
                <a:tc>
                  <a:txBody>
                    <a:bodyPr/>
                    <a:lstStyle/>
                    <a:p>
                      <a:pPr>
                        <a:buNone/>
                      </a:pPr>
                      <a:r>
                        <a:rPr lang="en-IN"/>
                        <a:t>Purpose</a:t>
                      </a:r>
                    </a:p>
                  </a:txBody>
                  <a:tcPr anchor="ctr"/>
                </a:tc>
                <a:tc>
                  <a:txBody>
                    <a:bodyPr/>
                    <a:lstStyle/>
                    <a:p>
                      <a:pPr>
                        <a:buNone/>
                      </a:pPr>
                      <a:r>
                        <a:rPr lang="en-IN"/>
                        <a:t>Primary Workflow</a:t>
                      </a:r>
                    </a:p>
                  </a:txBody>
                  <a:tcPr anchor="ctr"/>
                </a:tc>
                <a:extLst>
                  <a:ext uri="{0D108BD9-81ED-4DB2-BD59-A6C34878D82A}">
                    <a16:rowId xmlns:a16="http://schemas.microsoft.com/office/drawing/2014/main" val="1143024445"/>
                  </a:ext>
                </a:extLst>
              </a:tr>
              <a:tr h="911522">
                <a:tc>
                  <a:txBody>
                    <a:bodyPr/>
                    <a:lstStyle/>
                    <a:p>
                      <a:pPr>
                        <a:buNone/>
                      </a:pPr>
                      <a:r>
                        <a:rPr lang="en-IN"/>
                        <a:t>GET</a:t>
                      </a:r>
                    </a:p>
                  </a:txBody>
                  <a:tcPr anchor="ctr"/>
                </a:tc>
                <a:tc>
                  <a:txBody>
                    <a:bodyPr/>
                    <a:lstStyle/>
                    <a:p>
                      <a:pPr>
                        <a:buNone/>
                      </a:pPr>
                      <a:r>
                        <a:rPr lang="en-IN"/>
                        <a:t>/api/health</a:t>
                      </a:r>
                    </a:p>
                  </a:txBody>
                  <a:tcPr anchor="ctr"/>
                </a:tc>
                <a:tc>
                  <a:txBody>
                    <a:bodyPr/>
                    <a:lstStyle/>
                    <a:p>
                      <a:pPr>
                        <a:buNone/>
                      </a:pPr>
                      <a:r>
                        <a:rPr lang="en-IN"/>
                        <a:t>Check whether the service is running</a:t>
                      </a:r>
                    </a:p>
                  </a:txBody>
                  <a:tcPr anchor="ctr"/>
                </a:tc>
                <a:tc>
                  <a:txBody>
                    <a:bodyPr/>
                    <a:lstStyle/>
                    <a:p>
                      <a:pPr>
                        <a:buNone/>
                      </a:pPr>
                      <a:r>
                        <a:rPr lang="en-IN"/>
                        <a:t>Health Check</a:t>
                      </a:r>
                    </a:p>
                  </a:txBody>
                  <a:tcPr anchor="ctr"/>
                </a:tc>
                <a:extLst>
                  <a:ext uri="{0D108BD9-81ED-4DB2-BD59-A6C34878D82A}">
                    <a16:rowId xmlns:a16="http://schemas.microsoft.com/office/drawing/2014/main" val="115034039"/>
                  </a:ext>
                </a:extLst>
              </a:tr>
              <a:tr h="1302175">
                <a:tc>
                  <a:txBody>
                    <a:bodyPr/>
                    <a:lstStyle/>
                    <a:p>
                      <a:pPr>
                        <a:buNone/>
                      </a:pPr>
                      <a:r>
                        <a:rPr lang="en-IN"/>
                        <a:t>POST</a:t>
                      </a:r>
                    </a:p>
                  </a:txBody>
                  <a:tcPr anchor="ctr"/>
                </a:tc>
                <a:tc>
                  <a:txBody>
                    <a:bodyPr/>
                    <a:lstStyle/>
                    <a:p>
                      <a:pPr>
                        <a:buNone/>
                      </a:pPr>
                      <a:r>
                        <a:rPr lang="en-IN"/>
                        <a:t>/api/company/analyze</a:t>
                      </a:r>
                    </a:p>
                  </a:txBody>
                  <a:tcPr anchor="ctr"/>
                </a:tc>
                <a:tc>
                  <a:txBody>
                    <a:bodyPr/>
                    <a:lstStyle/>
                    <a:p>
                      <a:pPr>
                        <a:buNone/>
                      </a:pPr>
                      <a:r>
                        <a:rPr lang="en-IN"/>
                        <a:t>Execute company intelligence workflow</a:t>
                      </a:r>
                    </a:p>
                  </a:txBody>
                  <a:tcPr anchor="ctr"/>
                </a:tc>
                <a:tc>
                  <a:txBody>
                    <a:bodyPr/>
                    <a:lstStyle/>
                    <a:p>
                      <a:pPr>
                        <a:buNone/>
                      </a:pPr>
                      <a:r>
                        <a:rPr lang="en-IN"/>
                        <a:t>Company Intelligence</a:t>
                      </a:r>
                    </a:p>
                  </a:txBody>
                  <a:tcPr anchor="ctr"/>
                </a:tc>
                <a:extLst>
                  <a:ext uri="{0D108BD9-81ED-4DB2-BD59-A6C34878D82A}">
                    <a16:rowId xmlns:a16="http://schemas.microsoft.com/office/drawing/2014/main" val="1887444320"/>
                  </a:ext>
                </a:extLst>
              </a:tr>
              <a:tr h="1302175">
                <a:tc>
                  <a:txBody>
                    <a:bodyPr/>
                    <a:lstStyle/>
                    <a:p>
                      <a:pPr>
                        <a:buNone/>
                      </a:pPr>
                      <a:r>
                        <a:rPr lang="en-IN"/>
                        <a:t>POST</a:t>
                      </a:r>
                    </a:p>
                  </a:txBody>
                  <a:tcPr anchor="ctr"/>
                </a:tc>
                <a:tc>
                  <a:txBody>
                    <a:bodyPr/>
                    <a:lstStyle/>
                    <a:p>
                      <a:pPr>
                        <a:buNone/>
                      </a:pPr>
                      <a:r>
                        <a:rPr lang="en-IN"/>
                        <a:t>/api/chat</a:t>
                      </a:r>
                    </a:p>
                  </a:txBody>
                  <a:tcPr anchor="ctr"/>
                </a:tc>
                <a:tc>
                  <a:txBody>
                    <a:bodyPr/>
                    <a:lstStyle/>
                    <a:p>
                      <a:pPr>
                        <a:buNone/>
                      </a:pPr>
                      <a:r>
                        <a:rPr lang="en-IN"/>
                        <a:t>Process contextual conversational queries</a:t>
                      </a:r>
                    </a:p>
                  </a:txBody>
                  <a:tcPr anchor="ctr"/>
                </a:tc>
                <a:tc>
                  <a:txBody>
                    <a:bodyPr/>
                    <a:lstStyle/>
                    <a:p>
                      <a:pPr>
                        <a:buNone/>
                      </a:pPr>
                      <a:r>
                        <a:rPr lang="en-IN"/>
                        <a:t>Conversational Knowledge</a:t>
                      </a:r>
                    </a:p>
                  </a:txBody>
                  <a:tcPr anchor="ctr"/>
                </a:tc>
                <a:extLst>
                  <a:ext uri="{0D108BD9-81ED-4DB2-BD59-A6C34878D82A}">
                    <a16:rowId xmlns:a16="http://schemas.microsoft.com/office/drawing/2014/main" val="4021099283"/>
                  </a:ext>
                </a:extLst>
              </a:tr>
              <a:tr h="1302175">
                <a:tc>
                  <a:txBody>
                    <a:bodyPr/>
                    <a:lstStyle/>
                    <a:p>
                      <a:pPr>
                        <a:buNone/>
                      </a:pPr>
                      <a:r>
                        <a:rPr lang="en-IN"/>
                        <a:t>POST</a:t>
                      </a:r>
                    </a:p>
                  </a:txBody>
                  <a:tcPr anchor="ctr"/>
                </a:tc>
                <a:tc>
                  <a:txBody>
                    <a:bodyPr/>
                    <a:lstStyle/>
                    <a:p>
                      <a:pPr>
                        <a:buNone/>
                      </a:pPr>
                      <a:r>
                        <a:rPr lang="en-IN"/>
                        <a:t>/api/chat/clear</a:t>
                      </a:r>
                    </a:p>
                  </a:txBody>
                  <a:tcPr anchor="ctr"/>
                </a:tc>
                <a:tc>
                  <a:txBody>
                    <a:bodyPr/>
                    <a:lstStyle/>
                    <a:p>
                      <a:pPr>
                        <a:buNone/>
                      </a:pPr>
                      <a:r>
                        <a:rPr lang="en-IN"/>
                        <a:t>Clear current conversation context</a:t>
                      </a:r>
                    </a:p>
                  </a:txBody>
                  <a:tcPr anchor="ctr"/>
                </a:tc>
                <a:tc>
                  <a:txBody>
                    <a:bodyPr/>
                    <a:lstStyle/>
                    <a:p>
                      <a:pPr>
                        <a:buNone/>
                      </a:pPr>
                      <a:r>
                        <a:rPr lang="en-IN" dirty="0"/>
                        <a:t>Memory Management</a:t>
                      </a:r>
                    </a:p>
                  </a:txBody>
                  <a:tcPr anchor="ctr"/>
                </a:tc>
                <a:extLst>
                  <a:ext uri="{0D108BD9-81ED-4DB2-BD59-A6C34878D82A}">
                    <a16:rowId xmlns:a16="http://schemas.microsoft.com/office/drawing/2014/main" val="554598019"/>
                  </a:ext>
                </a:extLst>
              </a:tr>
            </a:tbl>
          </a:graphicData>
        </a:graphic>
      </p:graphicFrame>
      <p:sp>
        <p:nvSpPr>
          <p:cNvPr id="8" name="TextBox 7">
            <a:extLst>
              <a:ext uri="{FF2B5EF4-FFF2-40B4-BE49-F238E27FC236}">
                <a16:creationId xmlns:a16="http://schemas.microsoft.com/office/drawing/2014/main" id="{68AEBF4A-573B-1206-59B3-23D90CBD77E4}"/>
              </a:ext>
            </a:extLst>
          </p:cNvPr>
          <p:cNvSpPr txBox="1"/>
          <p:nvPr/>
        </p:nvSpPr>
        <p:spPr>
          <a:xfrm>
            <a:off x="1189703" y="483927"/>
            <a:ext cx="60960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12. API CONTRACT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84731" cy="507831"/>
          </a:xfrm>
          <a:prstGeom prst="rect">
            <a:avLst/>
          </a:prstGeom>
          <a:noFill/>
        </p:spPr>
        <p:txBody>
          <a:bodyPr wrap="none">
            <a:spAutoFit/>
          </a:bodyPr>
          <a:lstStyle/>
          <a:p>
            <a:pPr>
              <a:defRPr sz="2700"/>
            </a:pPr>
            <a:endParaRPr dirty="0"/>
          </a:p>
        </p:txBody>
      </p:sp>
      <p:sp>
        <p:nvSpPr>
          <p:cNvPr id="3" name="TextBox 2"/>
          <p:cNvSpPr txBox="1"/>
          <p:nvPr/>
        </p:nvSpPr>
        <p:spPr>
          <a:xfrm>
            <a:off x="285628" y="320040"/>
            <a:ext cx="10698480" cy="6130974"/>
          </a:xfrm>
          <a:prstGeom prst="rect">
            <a:avLst/>
          </a:prstGeom>
          <a:noFill/>
        </p:spPr>
        <p:txBody>
          <a:bodyPr wrap="square">
            <a:spAutoFit/>
          </a:bodyPr>
          <a:lstStyle/>
          <a:p>
            <a:pPr>
              <a:lnSpc>
                <a:spcPct val="150000"/>
              </a:lnSpc>
            </a:pPr>
            <a:r>
              <a:rPr lang="en-IN" sz="2400" b="1" dirty="0">
                <a:latin typeface="Times New Roman" panose="02020603050405020304" pitchFamily="18" charset="0"/>
                <a:cs typeface="Times New Roman" panose="02020603050405020304" pitchFamily="18" charset="0"/>
              </a:rPr>
              <a:t>13. ENGINEERING DESIGN DECISIONS</a:t>
            </a:r>
          </a:p>
          <a:p>
            <a:pPr>
              <a:lnSpc>
                <a:spcPct val="150000"/>
              </a:lnSpc>
            </a:pPr>
            <a:r>
              <a:rPr lang="en-IN" sz="2000" dirty="0">
                <a:latin typeface="Times New Roman" panose="02020603050405020304" pitchFamily="18" charset="0"/>
                <a:cs typeface="Times New Roman" panose="02020603050405020304" pitchFamily="18" charset="0"/>
              </a:rPr>
              <a:t>The system is designed around </a:t>
            </a:r>
            <a:r>
              <a:rPr lang="en-IN" sz="2000" b="1" dirty="0">
                <a:latin typeface="Times New Roman" panose="02020603050405020304" pitchFamily="18" charset="0"/>
                <a:cs typeface="Times New Roman" panose="02020603050405020304" pitchFamily="18" charset="0"/>
              </a:rPr>
              <a:t>modularity, loose coupling, traceability, testability, and provider independence</a:t>
            </a:r>
            <a:r>
              <a:rPr lang="en-IN" sz="2000" dirty="0">
                <a:latin typeface="Times New Roman" panose="02020603050405020304" pitchFamily="18" charset="0"/>
                <a:cs typeface="Times New Roman" panose="02020603050405020304" pitchFamily="18" charset="0"/>
              </a:rPr>
              <a:t>. Each design decision addresses a specific engineering requirement of a multi-agent AI application.</a:t>
            </a:r>
          </a:p>
          <a:p>
            <a:pPr>
              <a:lnSpc>
                <a:spcPct val="150000"/>
              </a:lnSpc>
            </a:pPr>
            <a:r>
              <a:rPr lang="en-IN" sz="2000" b="1" dirty="0">
                <a:latin typeface="Times New Roman" panose="02020603050405020304" pitchFamily="18" charset="0"/>
                <a:cs typeface="Times New Roman" panose="02020603050405020304" pitchFamily="18" charset="0"/>
              </a:rPr>
              <a:t>13.1 Separation of Concerns</a:t>
            </a:r>
          </a:p>
          <a:p>
            <a:pPr>
              <a:lnSpc>
                <a:spcPct val="150000"/>
              </a:lnSpc>
            </a:pPr>
            <a:r>
              <a:rPr lang="en-IN" sz="2000" dirty="0">
                <a:latin typeface="Times New Roman" panose="02020603050405020304" pitchFamily="18" charset="0"/>
                <a:cs typeface="Times New Roman" panose="02020603050405020304" pitchFamily="18" charset="0"/>
              </a:rPr>
              <a:t>Each layer has a clearly defined responsibility.</a:t>
            </a:r>
          </a:p>
          <a:p>
            <a:pPr>
              <a:lnSpc>
                <a:spcPct val="150000"/>
              </a:lnSpc>
            </a:pPr>
            <a:r>
              <a:rPr lang="en-IN" sz="2000" dirty="0">
                <a:latin typeface="Times New Roman" panose="02020603050405020304" pitchFamily="18" charset="0"/>
                <a:cs typeface="Times New Roman" panose="02020603050405020304" pitchFamily="18" charset="0"/>
              </a:rPr>
              <a:t>This prevents business logic, external API calls, memory management, and presentation logic from being tightly coupled.</a:t>
            </a:r>
          </a:p>
          <a:p>
            <a:pPr>
              <a:lnSpc>
                <a:spcPct val="150000"/>
              </a:lnSpc>
            </a:pPr>
            <a:r>
              <a:rPr lang="en-IN" sz="2000" b="1" dirty="0">
                <a:latin typeface="Times New Roman" panose="02020603050405020304" pitchFamily="18" charset="0"/>
                <a:cs typeface="Times New Roman" panose="02020603050405020304" pitchFamily="18" charset="0"/>
              </a:rPr>
              <a:t>Benefit:</a:t>
            </a:r>
            <a:endParaRPr lang="en-IN" sz="2000" dirty="0">
              <a:latin typeface="Times New Roman" panose="02020603050405020304" pitchFamily="18" charset="0"/>
              <a:cs typeface="Times New Roman" panose="02020603050405020304" pitchFamily="18" charset="0"/>
            </a:endParaRPr>
          </a:p>
          <a:p>
            <a:pPr lvl="0">
              <a:lnSpc>
                <a:spcPct val="150000"/>
              </a:lnSpc>
            </a:pPr>
            <a:r>
              <a:rPr lang="en-IN" sz="2000" dirty="0">
                <a:latin typeface="Times New Roman" panose="02020603050405020304" pitchFamily="18" charset="0"/>
                <a:cs typeface="Times New Roman" panose="02020603050405020304" pitchFamily="18" charset="0"/>
              </a:rPr>
              <a:t>Easier maintenance </a:t>
            </a:r>
          </a:p>
          <a:p>
            <a:pPr lvl="0">
              <a:lnSpc>
                <a:spcPct val="150000"/>
              </a:lnSpc>
            </a:pPr>
            <a:r>
              <a:rPr lang="en-IN" sz="2000" dirty="0">
                <a:latin typeface="Times New Roman" panose="02020603050405020304" pitchFamily="18" charset="0"/>
                <a:cs typeface="Times New Roman" panose="02020603050405020304" pitchFamily="18" charset="0"/>
              </a:rPr>
              <a:t>Independent component testing </a:t>
            </a:r>
          </a:p>
          <a:p>
            <a:pPr lvl="0">
              <a:lnSpc>
                <a:spcPct val="150000"/>
              </a:lnSpc>
            </a:pPr>
            <a:r>
              <a:rPr lang="en-IN" sz="2000" dirty="0">
                <a:latin typeface="Times New Roman" panose="02020603050405020304" pitchFamily="18" charset="0"/>
                <a:cs typeface="Times New Roman" panose="02020603050405020304" pitchFamily="18" charset="0"/>
              </a:rPr>
              <a:t>Easier debugging </a:t>
            </a:r>
          </a:p>
          <a:p>
            <a:pPr lvl="0">
              <a:lnSpc>
                <a:spcPct val="150000"/>
              </a:lnSpc>
            </a:pPr>
            <a:r>
              <a:rPr lang="en-IN" sz="2000" dirty="0">
                <a:latin typeface="Times New Roman" panose="02020603050405020304" pitchFamily="18" charset="0"/>
                <a:cs typeface="Times New Roman" panose="02020603050405020304" pitchFamily="18" charset="0"/>
              </a:rPr>
              <a:t>Reduced impact of changes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985E6-83C2-1FED-6F99-10686C93087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14C2DD5-6CAE-924C-98EC-AAD490544FC9}"/>
              </a:ext>
            </a:extLst>
          </p:cNvPr>
          <p:cNvSpPr txBox="1"/>
          <p:nvPr/>
        </p:nvSpPr>
        <p:spPr>
          <a:xfrm>
            <a:off x="594360" y="320040"/>
            <a:ext cx="184731" cy="507831"/>
          </a:xfrm>
          <a:prstGeom prst="rect">
            <a:avLst/>
          </a:prstGeom>
          <a:noFill/>
        </p:spPr>
        <p:txBody>
          <a:bodyPr wrap="none">
            <a:spAutoFit/>
          </a:bodyPr>
          <a:lstStyle/>
          <a:p>
            <a:pPr>
              <a:defRPr sz="2700"/>
            </a:pPr>
            <a:endParaRPr dirty="0"/>
          </a:p>
        </p:txBody>
      </p:sp>
      <p:sp>
        <p:nvSpPr>
          <p:cNvPr id="3" name="TextBox 2">
            <a:extLst>
              <a:ext uri="{FF2B5EF4-FFF2-40B4-BE49-F238E27FC236}">
                <a16:creationId xmlns:a16="http://schemas.microsoft.com/office/drawing/2014/main" id="{2E1BB77D-2C0E-D4BA-93AC-440A1AE1359C}"/>
              </a:ext>
            </a:extLst>
          </p:cNvPr>
          <p:cNvSpPr txBox="1"/>
          <p:nvPr/>
        </p:nvSpPr>
        <p:spPr>
          <a:xfrm>
            <a:off x="206970" y="172556"/>
            <a:ext cx="11670398" cy="5115311"/>
          </a:xfrm>
          <a:prstGeom prst="rect">
            <a:avLst/>
          </a:prstGeom>
          <a:noFill/>
        </p:spPr>
        <p:txBody>
          <a:bodyPr wrap="square">
            <a:spAutoFit/>
          </a:bodyPr>
          <a:lstStyle/>
          <a:p>
            <a:pPr>
              <a:lnSpc>
                <a:spcPct val="150000"/>
              </a:lnSpc>
            </a:pPr>
            <a:r>
              <a:rPr lang="en-IN" sz="2000" b="1" dirty="0">
                <a:latin typeface="Times New Roman" panose="02020603050405020304" pitchFamily="18" charset="0"/>
                <a:cs typeface="Times New Roman" panose="02020603050405020304" pitchFamily="18" charset="0"/>
              </a:rPr>
              <a:t>13.2 Typed Shared State</a:t>
            </a:r>
          </a:p>
          <a:p>
            <a:pPr>
              <a:lnSpc>
                <a:spcPct val="150000"/>
              </a:lnSpc>
            </a:pPr>
            <a:r>
              <a:rPr lang="en-IN" sz="2000" dirty="0">
                <a:latin typeface="Times New Roman" panose="02020603050405020304" pitchFamily="18" charset="0"/>
                <a:cs typeface="Times New Roman" panose="02020603050405020304" pitchFamily="18" charset="0"/>
              </a:rPr>
              <a:t>A structured </a:t>
            </a:r>
            <a:r>
              <a:rPr lang="en-IN" sz="2000" dirty="0" err="1">
                <a:latin typeface="Times New Roman" panose="02020603050405020304" pitchFamily="18" charset="0"/>
                <a:cs typeface="Times New Roman" panose="02020603050405020304" pitchFamily="18" charset="0"/>
              </a:rPr>
              <a:t>CompanyState</a:t>
            </a:r>
            <a:r>
              <a:rPr lang="en-IN" sz="2000" dirty="0">
                <a:latin typeface="Times New Roman" panose="02020603050405020304" pitchFamily="18" charset="0"/>
                <a:cs typeface="Times New Roman" panose="02020603050405020304" pitchFamily="18" charset="0"/>
              </a:rPr>
              <a:t> provides a predictable contract between workflow stages.</a:t>
            </a:r>
          </a:p>
          <a:p>
            <a:pPr>
              <a:lnSpc>
                <a:spcPct val="150000"/>
              </a:lnSpc>
            </a:pPr>
            <a:r>
              <a:rPr lang="en-IN" sz="2000" dirty="0">
                <a:latin typeface="Times New Roman" panose="02020603050405020304" pitchFamily="18" charset="0"/>
                <a:cs typeface="Times New Roman" panose="02020603050405020304" pitchFamily="18" charset="0"/>
              </a:rPr>
              <a:t>Instead of passing arbitrary text between agents, each stage reads and updates well-defined fields.</a:t>
            </a:r>
          </a:p>
          <a:p>
            <a:pPr>
              <a:lnSpc>
                <a:spcPct val="150000"/>
              </a:lnSpc>
            </a:pPr>
            <a:r>
              <a:rPr lang="en-IN" sz="2000" b="1" dirty="0">
                <a:latin typeface="Times New Roman" panose="02020603050405020304" pitchFamily="18" charset="0"/>
                <a:cs typeface="Times New Roman" panose="02020603050405020304" pitchFamily="18" charset="0"/>
              </a:rPr>
              <a:t>Benefit:</a:t>
            </a:r>
            <a:endParaRPr lang="en-IN" sz="2000" dirty="0">
              <a:latin typeface="Times New Roman" panose="02020603050405020304" pitchFamily="18" charset="0"/>
              <a:cs typeface="Times New Roman" panose="02020603050405020304" pitchFamily="18" charset="0"/>
            </a:endParaRPr>
          </a:p>
          <a:p>
            <a:pPr lvl="0">
              <a:lnSpc>
                <a:spcPct val="150000"/>
              </a:lnSpc>
            </a:pPr>
            <a:r>
              <a:rPr lang="en-IN" sz="2000" dirty="0">
                <a:latin typeface="Times New Roman" panose="02020603050405020304" pitchFamily="18" charset="0"/>
                <a:cs typeface="Times New Roman" panose="02020603050405020304" pitchFamily="18" charset="0"/>
              </a:rPr>
              <a:t>Predictable data flow </a:t>
            </a:r>
          </a:p>
          <a:p>
            <a:pPr lvl="0">
              <a:lnSpc>
                <a:spcPct val="150000"/>
              </a:lnSpc>
            </a:pPr>
            <a:r>
              <a:rPr lang="en-IN" sz="2000" dirty="0">
                <a:latin typeface="Times New Roman" panose="02020603050405020304" pitchFamily="18" charset="0"/>
                <a:cs typeface="Times New Roman" panose="02020603050405020304" pitchFamily="18" charset="0"/>
              </a:rPr>
              <a:t>Easier debugging </a:t>
            </a:r>
          </a:p>
          <a:p>
            <a:pPr lvl="0">
              <a:lnSpc>
                <a:spcPct val="150000"/>
              </a:lnSpc>
            </a:pPr>
            <a:r>
              <a:rPr lang="en-IN" sz="2000" dirty="0">
                <a:latin typeface="Times New Roman" panose="02020603050405020304" pitchFamily="18" charset="0"/>
                <a:cs typeface="Times New Roman" panose="02020603050405020304" pitchFamily="18" charset="0"/>
              </a:rPr>
              <a:t>Reduced information loss </a:t>
            </a:r>
          </a:p>
          <a:p>
            <a:pPr lvl="0">
              <a:lnSpc>
                <a:spcPct val="150000"/>
              </a:lnSpc>
            </a:pPr>
            <a:r>
              <a:rPr lang="en-IN" sz="2000" dirty="0">
                <a:latin typeface="Times New Roman" panose="02020603050405020304" pitchFamily="18" charset="0"/>
                <a:cs typeface="Times New Roman" panose="02020603050405020304" pitchFamily="18" charset="0"/>
              </a:rPr>
              <a:t>Clear agent hand-offs </a:t>
            </a:r>
          </a:p>
          <a:p>
            <a:pPr lvl="0">
              <a:lnSpc>
                <a:spcPct val="150000"/>
              </a:lnSpc>
            </a:pPr>
            <a:r>
              <a:rPr lang="en-IN" sz="2000" dirty="0">
                <a:latin typeface="Times New Roman" panose="02020603050405020304" pitchFamily="18" charset="0"/>
                <a:cs typeface="Times New Roman" panose="02020603050405020304" pitchFamily="18" charset="0"/>
              </a:rPr>
              <a:t>Better </a:t>
            </a:r>
            <a:r>
              <a:rPr lang="en-IN" sz="2000" dirty="0" err="1">
                <a:latin typeface="Times New Roman" panose="02020603050405020304" pitchFamily="18" charset="0"/>
                <a:cs typeface="Times New Roman" panose="02020603050405020304" pitchFamily="18" charset="0"/>
              </a:rPr>
              <a:t>LangGraph</a:t>
            </a:r>
            <a:r>
              <a:rPr lang="en-IN" sz="2000" dirty="0">
                <a:latin typeface="Times New Roman" panose="02020603050405020304" pitchFamily="18" charset="0"/>
                <a:cs typeface="Times New Roman" panose="02020603050405020304" pitchFamily="18" charset="0"/>
              </a:rPr>
              <a:t> workflow management</a:t>
            </a:r>
          </a:p>
          <a:p>
            <a:pPr>
              <a:lnSpc>
                <a:spcPct val="150000"/>
              </a:lnSpc>
            </a:pPr>
            <a:r>
              <a:rPr lang="en-IN" sz="2000" b="1" dirty="0">
                <a:latin typeface="Times New Roman" panose="02020603050405020304" pitchFamily="18" charset="0"/>
                <a:cs typeface="Times New Roman" panose="02020603050405020304" pitchFamily="18" charset="0"/>
              </a:rPr>
              <a:t>13.3 Specialized Agents</a:t>
            </a:r>
          </a:p>
          <a:p>
            <a:pPr>
              <a:lnSpc>
                <a:spcPct val="150000"/>
              </a:lnSpc>
            </a:pPr>
            <a:r>
              <a:rPr lang="en-IN" sz="2000" dirty="0">
                <a:latin typeface="Times New Roman" panose="02020603050405020304" pitchFamily="18" charset="0"/>
                <a:cs typeface="Times New Roman" panose="02020603050405020304" pitchFamily="18" charset="0"/>
              </a:rPr>
              <a:t>Agents are assigned specific responsibilities rather than creating one large general-purpose agent.</a:t>
            </a:r>
          </a:p>
        </p:txBody>
      </p:sp>
    </p:spTree>
    <p:extLst>
      <p:ext uri="{BB962C8B-B14F-4D97-AF65-F5344CB8AC3E}">
        <p14:creationId xmlns:p14="http://schemas.microsoft.com/office/powerpoint/2010/main" val="1652385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B2171-90CC-2B7C-8807-06077F7EC09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3A4E270-2223-AD89-F1D4-87138D5BBBDB}"/>
              </a:ext>
            </a:extLst>
          </p:cNvPr>
          <p:cNvSpPr txBox="1"/>
          <p:nvPr/>
        </p:nvSpPr>
        <p:spPr>
          <a:xfrm>
            <a:off x="594360" y="320040"/>
            <a:ext cx="184731" cy="507831"/>
          </a:xfrm>
          <a:prstGeom prst="rect">
            <a:avLst/>
          </a:prstGeom>
          <a:noFill/>
        </p:spPr>
        <p:txBody>
          <a:bodyPr wrap="none">
            <a:spAutoFit/>
          </a:bodyPr>
          <a:lstStyle/>
          <a:p>
            <a:pPr>
              <a:defRPr sz="2700"/>
            </a:pPr>
            <a:endParaRPr dirty="0"/>
          </a:p>
        </p:txBody>
      </p:sp>
      <p:sp>
        <p:nvSpPr>
          <p:cNvPr id="3" name="TextBox 2">
            <a:extLst>
              <a:ext uri="{FF2B5EF4-FFF2-40B4-BE49-F238E27FC236}">
                <a16:creationId xmlns:a16="http://schemas.microsoft.com/office/drawing/2014/main" id="{A0B9EA6E-67C5-7A99-DE95-4EF234E38A34}"/>
              </a:ext>
            </a:extLst>
          </p:cNvPr>
          <p:cNvSpPr txBox="1"/>
          <p:nvPr/>
        </p:nvSpPr>
        <p:spPr>
          <a:xfrm>
            <a:off x="206970" y="172556"/>
            <a:ext cx="11670398" cy="6038641"/>
          </a:xfrm>
          <a:prstGeom prst="rect">
            <a:avLst/>
          </a:prstGeom>
          <a:noFill/>
        </p:spPr>
        <p:txBody>
          <a:bodyPr wrap="square">
            <a:spAutoFit/>
          </a:bodyPr>
          <a:lstStyle/>
          <a:p>
            <a:pPr>
              <a:lnSpc>
                <a:spcPct val="150000"/>
              </a:lnSpc>
            </a:pPr>
            <a:r>
              <a:rPr lang="en-IN" sz="2000" b="1" dirty="0">
                <a:latin typeface="Times New Roman" panose="02020603050405020304" pitchFamily="18" charset="0"/>
                <a:cs typeface="Times New Roman" panose="02020603050405020304" pitchFamily="18" charset="0"/>
              </a:rPr>
              <a:t>Benefit:</a:t>
            </a:r>
            <a:endParaRPr lang="en-IN" sz="2000" dirty="0">
              <a:latin typeface="Times New Roman" panose="02020603050405020304" pitchFamily="18" charset="0"/>
              <a:cs typeface="Times New Roman" panose="02020603050405020304" pitchFamily="18" charset="0"/>
            </a:endParaRPr>
          </a:p>
          <a:p>
            <a:pPr lvl="0">
              <a:lnSpc>
                <a:spcPct val="150000"/>
              </a:lnSpc>
            </a:pPr>
            <a:r>
              <a:rPr lang="en-IN" sz="2000" dirty="0">
                <a:latin typeface="Times New Roman" panose="02020603050405020304" pitchFamily="18" charset="0"/>
                <a:cs typeface="Times New Roman" panose="02020603050405020304" pitchFamily="18" charset="0"/>
              </a:rPr>
              <a:t>Explicit responsibilities </a:t>
            </a:r>
          </a:p>
          <a:p>
            <a:pPr lvl="0">
              <a:lnSpc>
                <a:spcPct val="150000"/>
              </a:lnSpc>
            </a:pPr>
            <a:r>
              <a:rPr lang="en-IN" sz="2000" dirty="0">
                <a:latin typeface="Times New Roman" panose="02020603050405020304" pitchFamily="18" charset="0"/>
                <a:cs typeface="Times New Roman" panose="02020603050405020304" pitchFamily="18" charset="0"/>
              </a:rPr>
              <a:t>Easier testing </a:t>
            </a:r>
          </a:p>
          <a:p>
            <a:pPr lvl="0">
              <a:lnSpc>
                <a:spcPct val="150000"/>
              </a:lnSpc>
            </a:pPr>
            <a:r>
              <a:rPr lang="en-IN" sz="2000" dirty="0">
                <a:latin typeface="Times New Roman" panose="02020603050405020304" pitchFamily="18" charset="0"/>
                <a:cs typeface="Times New Roman" panose="02020603050405020304" pitchFamily="18" charset="0"/>
              </a:rPr>
              <a:t>Better workflow control </a:t>
            </a:r>
          </a:p>
          <a:p>
            <a:pPr lvl="0">
              <a:lnSpc>
                <a:spcPct val="150000"/>
              </a:lnSpc>
            </a:pPr>
            <a:r>
              <a:rPr lang="en-IN" sz="2000" dirty="0">
                <a:latin typeface="Times New Roman" panose="02020603050405020304" pitchFamily="18" charset="0"/>
                <a:cs typeface="Times New Roman" panose="02020603050405020304" pitchFamily="18" charset="0"/>
              </a:rPr>
              <a:t>Individual agents can be modified independently</a:t>
            </a:r>
          </a:p>
          <a:p>
            <a:pPr>
              <a:lnSpc>
                <a:spcPct val="150000"/>
              </a:lnSpc>
            </a:pPr>
            <a:r>
              <a:rPr lang="en-IN" sz="2000" b="1" dirty="0">
                <a:latin typeface="Times New Roman" panose="02020603050405020304" pitchFamily="18" charset="0"/>
                <a:cs typeface="Times New Roman" panose="02020603050405020304" pitchFamily="18" charset="0"/>
              </a:rPr>
              <a:t>13.4 Tool Isolation</a:t>
            </a:r>
          </a:p>
          <a:p>
            <a:pPr>
              <a:lnSpc>
                <a:spcPct val="150000"/>
              </a:lnSpc>
            </a:pPr>
            <a:r>
              <a:rPr lang="en-IN" sz="2000" dirty="0">
                <a:latin typeface="Times New Roman" panose="02020603050405020304" pitchFamily="18" charset="0"/>
                <a:cs typeface="Times New Roman" panose="02020603050405020304" pitchFamily="18" charset="0"/>
              </a:rPr>
              <a:t>External information retrieval is isolated behind dedicated tools.</a:t>
            </a:r>
          </a:p>
          <a:p>
            <a:pPr>
              <a:lnSpc>
                <a:spcPct val="150000"/>
              </a:lnSpc>
            </a:pPr>
            <a:r>
              <a:rPr lang="en-IN" sz="2000" dirty="0">
                <a:latin typeface="Times New Roman" panose="02020603050405020304" pitchFamily="18" charset="0"/>
                <a:cs typeface="Times New Roman" panose="02020603050405020304" pitchFamily="18" charset="0"/>
              </a:rPr>
              <a:t>The agent does not need to manage the implementation details of every external service.</a:t>
            </a:r>
          </a:p>
          <a:p>
            <a:pPr>
              <a:lnSpc>
                <a:spcPct val="150000"/>
              </a:lnSpc>
            </a:pPr>
            <a:r>
              <a:rPr lang="en-IN" sz="2000" b="1" dirty="0">
                <a:latin typeface="Times New Roman" panose="02020603050405020304" pitchFamily="18" charset="0"/>
                <a:cs typeface="Times New Roman" panose="02020603050405020304" pitchFamily="18" charset="0"/>
              </a:rPr>
              <a:t>Benefit:</a:t>
            </a:r>
            <a:endParaRPr lang="en-IN" sz="2000" dirty="0">
              <a:latin typeface="Times New Roman" panose="02020603050405020304" pitchFamily="18" charset="0"/>
              <a:cs typeface="Times New Roman" panose="02020603050405020304" pitchFamily="18" charset="0"/>
            </a:endParaRPr>
          </a:p>
          <a:p>
            <a:pPr lvl="0">
              <a:lnSpc>
                <a:spcPct val="150000"/>
              </a:lnSpc>
            </a:pPr>
            <a:r>
              <a:rPr lang="en-IN" sz="2000" dirty="0">
                <a:latin typeface="Times New Roman" panose="02020603050405020304" pitchFamily="18" charset="0"/>
                <a:cs typeface="Times New Roman" panose="02020603050405020304" pitchFamily="18" charset="0"/>
              </a:rPr>
              <a:t>External dependencies remain isolated </a:t>
            </a:r>
          </a:p>
          <a:p>
            <a:pPr lvl="0">
              <a:lnSpc>
                <a:spcPct val="150000"/>
              </a:lnSpc>
            </a:pPr>
            <a:r>
              <a:rPr lang="en-IN" sz="2000" dirty="0">
                <a:latin typeface="Times New Roman" panose="02020603050405020304" pitchFamily="18" charset="0"/>
                <a:cs typeface="Times New Roman" panose="02020603050405020304" pitchFamily="18" charset="0"/>
              </a:rPr>
              <a:t>APIs can be replaced independently </a:t>
            </a:r>
          </a:p>
          <a:p>
            <a:pPr lvl="0">
              <a:lnSpc>
                <a:spcPct val="150000"/>
              </a:lnSpc>
            </a:pPr>
            <a:r>
              <a:rPr lang="en-IN" sz="2000" dirty="0">
                <a:latin typeface="Times New Roman" panose="02020603050405020304" pitchFamily="18" charset="0"/>
                <a:cs typeface="Times New Roman" panose="02020603050405020304" pitchFamily="18" charset="0"/>
              </a:rPr>
              <a:t>Easier mocking during testing </a:t>
            </a:r>
          </a:p>
          <a:p>
            <a:pPr lvl="0">
              <a:lnSpc>
                <a:spcPct val="150000"/>
              </a:lnSpc>
            </a:pPr>
            <a:r>
              <a:rPr lang="en-IN" sz="2000" dirty="0">
                <a:latin typeface="Times New Roman" panose="02020603050405020304" pitchFamily="18" charset="0"/>
                <a:cs typeface="Times New Roman" panose="02020603050405020304" pitchFamily="18" charset="0"/>
              </a:rPr>
              <a:t>Cleaner agent implementation</a:t>
            </a:r>
          </a:p>
        </p:txBody>
      </p:sp>
    </p:spTree>
    <p:extLst>
      <p:ext uri="{BB962C8B-B14F-4D97-AF65-F5344CB8AC3E}">
        <p14:creationId xmlns:p14="http://schemas.microsoft.com/office/powerpoint/2010/main" val="3792425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74BD2-D2F4-2ED9-291D-60D9D6263BA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C9CABF-286D-0D42-B2C6-5EA688294F76}"/>
              </a:ext>
            </a:extLst>
          </p:cNvPr>
          <p:cNvSpPr txBox="1"/>
          <p:nvPr/>
        </p:nvSpPr>
        <p:spPr>
          <a:xfrm>
            <a:off x="594360" y="320040"/>
            <a:ext cx="184731" cy="507831"/>
          </a:xfrm>
          <a:prstGeom prst="rect">
            <a:avLst/>
          </a:prstGeom>
          <a:noFill/>
        </p:spPr>
        <p:txBody>
          <a:bodyPr wrap="none">
            <a:spAutoFit/>
          </a:bodyPr>
          <a:lstStyle/>
          <a:p>
            <a:pPr>
              <a:defRPr sz="2700"/>
            </a:pPr>
            <a:endParaRPr dirty="0"/>
          </a:p>
        </p:txBody>
      </p:sp>
      <p:sp>
        <p:nvSpPr>
          <p:cNvPr id="3" name="TextBox 2">
            <a:extLst>
              <a:ext uri="{FF2B5EF4-FFF2-40B4-BE49-F238E27FC236}">
                <a16:creationId xmlns:a16="http://schemas.microsoft.com/office/drawing/2014/main" id="{CCD3CD89-249B-4E9E-4A40-98D1C7306AEC}"/>
              </a:ext>
            </a:extLst>
          </p:cNvPr>
          <p:cNvSpPr txBox="1"/>
          <p:nvPr/>
        </p:nvSpPr>
        <p:spPr>
          <a:xfrm>
            <a:off x="206970" y="172556"/>
            <a:ext cx="11670398" cy="6038641"/>
          </a:xfrm>
          <a:prstGeom prst="rect">
            <a:avLst/>
          </a:prstGeom>
          <a:noFill/>
        </p:spPr>
        <p:txBody>
          <a:bodyPr wrap="square">
            <a:spAutoFit/>
          </a:bodyPr>
          <a:lstStyle/>
          <a:p>
            <a:pPr>
              <a:lnSpc>
                <a:spcPct val="150000"/>
              </a:lnSpc>
            </a:pPr>
            <a:r>
              <a:rPr lang="en-IN" sz="2000" b="1" dirty="0">
                <a:latin typeface="Times New Roman" panose="02020603050405020304" pitchFamily="18" charset="0"/>
                <a:cs typeface="Times New Roman" panose="02020603050405020304" pitchFamily="18" charset="0"/>
              </a:rPr>
              <a:t>13.5 LLM Provider Abstraction</a:t>
            </a:r>
          </a:p>
          <a:p>
            <a:pPr>
              <a:lnSpc>
                <a:spcPct val="150000"/>
              </a:lnSpc>
            </a:pPr>
            <a:r>
              <a:rPr lang="en-IN" sz="2000" dirty="0">
                <a:latin typeface="Times New Roman" panose="02020603050405020304" pitchFamily="18" charset="0"/>
                <a:cs typeface="Times New Roman" panose="02020603050405020304" pitchFamily="18" charset="0"/>
              </a:rPr>
              <a:t>The application uses a centralized </a:t>
            </a:r>
            <a:r>
              <a:rPr lang="en-IN" sz="2000" dirty="0" err="1">
                <a:latin typeface="Times New Roman" panose="02020603050405020304" pitchFamily="18" charset="0"/>
                <a:cs typeface="Times New Roman" panose="02020603050405020304" pitchFamily="18" charset="0"/>
              </a:rPr>
              <a:t>get_llm</a:t>
            </a:r>
            <a:r>
              <a:rPr lang="en-IN" sz="2000" dirty="0">
                <a:latin typeface="Times New Roman" panose="02020603050405020304" pitchFamily="18" charset="0"/>
                <a:cs typeface="Times New Roman" panose="02020603050405020304" pitchFamily="18" charset="0"/>
              </a:rPr>
              <a:t>() interface rather than directly coupling agents to a specific provider.</a:t>
            </a:r>
          </a:p>
          <a:p>
            <a:pPr>
              <a:lnSpc>
                <a:spcPct val="150000"/>
              </a:lnSpc>
            </a:pPr>
            <a:r>
              <a:rPr lang="en-IN" sz="2000" b="1" dirty="0">
                <a:latin typeface="Times New Roman" panose="02020603050405020304" pitchFamily="18" charset="0"/>
                <a:cs typeface="Times New Roman" panose="02020603050405020304" pitchFamily="18" charset="0"/>
              </a:rPr>
              <a:t>Benefit:</a:t>
            </a:r>
            <a:endParaRPr lang="en-IN" sz="2000" dirty="0">
              <a:latin typeface="Times New Roman" panose="02020603050405020304" pitchFamily="18" charset="0"/>
              <a:cs typeface="Times New Roman" panose="02020603050405020304" pitchFamily="18" charset="0"/>
            </a:endParaRPr>
          </a:p>
          <a:p>
            <a:pPr lvl="0">
              <a:lnSpc>
                <a:spcPct val="150000"/>
              </a:lnSpc>
            </a:pPr>
            <a:r>
              <a:rPr lang="en-IN" sz="2000" dirty="0">
                <a:latin typeface="Times New Roman" panose="02020603050405020304" pitchFamily="18" charset="0"/>
                <a:cs typeface="Times New Roman" panose="02020603050405020304" pitchFamily="18" charset="0"/>
              </a:rPr>
              <a:t>Provider independence </a:t>
            </a:r>
          </a:p>
          <a:p>
            <a:pPr lvl="0">
              <a:lnSpc>
                <a:spcPct val="150000"/>
              </a:lnSpc>
            </a:pPr>
            <a:r>
              <a:rPr lang="en-IN" sz="2000" dirty="0">
                <a:latin typeface="Times New Roman" panose="02020603050405020304" pitchFamily="18" charset="0"/>
                <a:cs typeface="Times New Roman" panose="02020603050405020304" pitchFamily="18" charset="0"/>
              </a:rPr>
              <a:t>Easier model switching </a:t>
            </a:r>
          </a:p>
          <a:p>
            <a:pPr lvl="0">
              <a:lnSpc>
                <a:spcPct val="150000"/>
              </a:lnSpc>
            </a:pPr>
            <a:r>
              <a:rPr lang="en-IN" sz="2000" dirty="0">
                <a:latin typeface="Times New Roman" panose="02020603050405020304" pitchFamily="18" charset="0"/>
                <a:cs typeface="Times New Roman" panose="02020603050405020304" pitchFamily="18" charset="0"/>
              </a:rPr>
              <a:t>Centralized configuration </a:t>
            </a:r>
          </a:p>
          <a:p>
            <a:pPr lvl="0">
              <a:lnSpc>
                <a:spcPct val="150000"/>
              </a:lnSpc>
            </a:pPr>
            <a:r>
              <a:rPr lang="en-IN" sz="2000" dirty="0">
                <a:latin typeface="Times New Roman" panose="02020603050405020304" pitchFamily="18" charset="0"/>
                <a:cs typeface="Times New Roman" panose="02020603050405020304" pitchFamily="18" charset="0"/>
              </a:rPr>
              <a:t>Reduced vendor-specific code </a:t>
            </a:r>
          </a:p>
          <a:p>
            <a:pPr lvl="0">
              <a:lnSpc>
                <a:spcPct val="150000"/>
              </a:lnSpc>
            </a:pPr>
            <a:r>
              <a:rPr lang="en-IN" sz="2000" dirty="0">
                <a:latin typeface="Times New Roman" panose="02020603050405020304" pitchFamily="18" charset="0"/>
                <a:cs typeface="Times New Roman" panose="02020603050405020304" pitchFamily="18" charset="0"/>
              </a:rPr>
              <a:t>Simplified testing</a:t>
            </a:r>
          </a:p>
          <a:p>
            <a:pPr>
              <a:lnSpc>
                <a:spcPct val="150000"/>
              </a:lnSpc>
            </a:pPr>
            <a:r>
              <a:rPr lang="en-IN" sz="2000" b="1" dirty="0">
                <a:latin typeface="Times New Roman" panose="02020603050405020304" pitchFamily="18" charset="0"/>
                <a:cs typeface="Times New Roman" panose="02020603050405020304" pitchFamily="18" charset="0"/>
              </a:rPr>
              <a:t>13.6 Fallback / Demo Mode</a:t>
            </a:r>
          </a:p>
          <a:p>
            <a:pPr>
              <a:lnSpc>
                <a:spcPct val="150000"/>
              </a:lnSpc>
            </a:pPr>
            <a:r>
              <a:rPr lang="en-IN" sz="2000" dirty="0" err="1">
                <a:latin typeface="Times New Roman" panose="02020603050405020304" pitchFamily="18" charset="0"/>
                <a:cs typeface="Times New Roman" panose="02020603050405020304" pitchFamily="18" charset="0"/>
              </a:rPr>
              <a:t>DemoModel</a:t>
            </a:r>
            <a:r>
              <a:rPr lang="en-IN" sz="2000" dirty="0">
                <a:latin typeface="Times New Roman" panose="02020603050405020304" pitchFamily="18" charset="0"/>
                <a:cs typeface="Times New Roman" panose="02020603050405020304" pitchFamily="18" charset="0"/>
              </a:rPr>
              <a:t> provides an alternative execution path when live LLM credentials are unavailable or DEMO_MODE=true.</a:t>
            </a:r>
          </a:p>
          <a:p>
            <a:pPr>
              <a:lnSpc>
                <a:spcPct val="150000"/>
              </a:lnSpc>
            </a:pPr>
            <a:r>
              <a:rPr lang="en-IN" sz="2000" dirty="0">
                <a:latin typeface="Times New Roman" panose="02020603050405020304" pitchFamily="18" charset="0"/>
                <a:cs typeface="Times New Roman" panose="02020603050405020304" pitchFamily="18" charset="0"/>
              </a:rPr>
              <a:t>This allows the application architecture and API workflow to remain demonstrable without requiring every environment to have external provider credentials.</a:t>
            </a:r>
          </a:p>
        </p:txBody>
      </p:sp>
    </p:spTree>
    <p:extLst>
      <p:ext uri="{BB962C8B-B14F-4D97-AF65-F5344CB8AC3E}">
        <p14:creationId xmlns:p14="http://schemas.microsoft.com/office/powerpoint/2010/main" val="17340317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E61CA-330E-F7B2-C296-D73AA29C3D5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136AC82-B268-F07F-C82D-D9D635293CE6}"/>
              </a:ext>
            </a:extLst>
          </p:cNvPr>
          <p:cNvSpPr txBox="1"/>
          <p:nvPr/>
        </p:nvSpPr>
        <p:spPr>
          <a:xfrm>
            <a:off x="594360" y="320040"/>
            <a:ext cx="184731" cy="507831"/>
          </a:xfrm>
          <a:prstGeom prst="rect">
            <a:avLst/>
          </a:prstGeom>
          <a:noFill/>
        </p:spPr>
        <p:txBody>
          <a:bodyPr wrap="none">
            <a:spAutoFit/>
          </a:bodyPr>
          <a:lstStyle/>
          <a:p>
            <a:pPr>
              <a:defRPr sz="2700"/>
            </a:pPr>
            <a:endParaRPr dirty="0"/>
          </a:p>
        </p:txBody>
      </p:sp>
      <p:sp>
        <p:nvSpPr>
          <p:cNvPr id="3" name="TextBox 2">
            <a:extLst>
              <a:ext uri="{FF2B5EF4-FFF2-40B4-BE49-F238E27FC236}">
                <a16:creationId xmlns:a16="http://schemas.microsoft.com/office/drawing/2014/main" id="{04B8BFF4-634B-ED68-794B-0CC31AA4F968}"/>
              </a:ext>
            </a:extLst>
          </p:cNvPr>
          <p:cNvSpPr txBox="1"/>
          <p:nvPr/>
        </p:nvSpPr>
        <p:spPr>
          <a:xfrm>
            <a:off x="206970" y="5408"/>
            <a:ext cx="11847378" cy="6961970"/>
          </a:xfrm>
          <a:prstGeom prst="rect">
            <a:avLst/>
          </a:prstGeom>
          <a:noFill/>
        </p:spPr>
        <p:txBody>
          <a:bodyPr wrap="square">
            <a:spAutoFit/>
          </a:bodyPr>
          <a:lstStyle/>
          <a:p>
            <a:pPr>
              <a:lnSpc>
                <a:spcPct val="150000"/>
              </a:lnSpc>
            </a:pPr>
            <a:r>
              <a:rPr lang="en-IN" sz="2000" b="1" dirty="0">
                <a:latin typeface="Times New Roman" panose="02020603050405020304" pitchFamily="18" charset="0"/>
                <a:cs typeface="Times New Roman" panose="02020603050405020304" pitchFamily="18" charset="0"/>
              </a:rPr>
              <a:t>Benefit:</a:t>
            </a:r>
            <a:endParaRPr lang="en-IN" sz="2000" dirty="0">
              <a:latin typeface="Times New Roman" panose="02020603050405020304" pitchFamily="18" charset="0"/>
              <a:cs typeface="Times New Roman" panose="02020603050405020304" pitchFamily="18" charset="0"/>
            </a:endParaRPr>
          </a:p>
          <a:p>
            <a:pPr lvl="0">
              <a:lnSpc>
                <a:spcPct val="150000"/>
              </a:lnSpc>
            </a:pPr>
            <a:r>
              <a:rPr lang="en-IN" sz="2000" dirty="0">
                <a:latin typeface="Times New Roman" panose="02020603050405020304" pitchFamily="18" charset="0"/>
                <a:cs typeface="Times New Roman" panose="02020603050405020304" pitchFamily="18" charset="0"/>
              </a:rPr>
              <a:t>Reliable demonstrations </a:t>
            </a:r>
          </a:p>
          <a:p>
            <a:pPr lvl="0">
              <a:lnSpc>
                <a:spcPct val="150000"/>
              </a:lnSpc>
            </a:pPr>
            <a:r>
              <a:rPr lang="en-IN" sz="2000" dirty="0">
                <a:latin typeface="Times New Roman" panose="02020603050405020304" pitchFamily="18" charset="0"/>
                <a:cs typeface="Times New Roman" panose="02020603050405020304" pitchFamily="18" charset="0"/>
              </a:rPr>
              <a:t>Easier local development </a:t>
            </a:r>
          </a:p>
          <a:p>
            <a:pPr lvl="0">
              <a:lnSpc>
                <a:spcPct val="150000"/>
              </a:lnSpc>
            </a:pPr>
            <a:r>
              <a:rPr lang="en-IN" sz="2000" dirty="0">
                <a:latin typeface="Times New Roman" panose="02020603050405020304" pitchFamily="18" charset="0"/>
                <a:cs typeface="Times New Roman" panose="02020603050405020304" pitchFamily="18" charset="0"/>
              </a:rPr>
              <a:t>Credential-independent testing </a:t>
            </a:r>
          </a:p>
          <a:p>
            <a:pPr lvl="0">
              <a:lnSpc>
                <a:spcPct val="150000"/>
              </a:lnSpc>
            </a:pPr>
            <a:r>
              <a:rPr lang="en-IN" sz="2000" dirty="0">
                <a:latin typeface="Times New Roman" panose="02020603050405020304" pitchFamily="18" charset="0"/>
                <a:cs typeface="Times New Roman" panose="02020603050405020304" pitchFamily="18" charset="0"/>
              </a:rPr>
              <a:t>Better CI/testing support</a:t>
            </a:r>
          </a:p>
          <a:p>
            <a:pPr>
              <a:lnSpc>
                <a:spcPct val="150000"/>
              </a:lnSpc>
            </a:pPr>
            <a:r>
              <a:rPr lang="en-IN" sz="2000" b="1" dirty="0">
                <a:latin typeface="Times New Roman" panose="02020603050405020304" pitchFamily="18" charset="0"/>
                <a:cs typeface="Times New Roman" panose="02020603050405020304" pitchFamily="18" charset="0"/>
              </a:rPr>
              <a:t>13.7 Source Preservation</a:t>
            </a:r>
          </a:p>
          <a:p>
            <a:pPr>
              <a:lnSpc>
                <a:spcPct val="150000"/>
              </a:lnSpc>
            </a:pPr>
            <a:r>
              <a:rPr lang="en-IN" sz="2000" dirty="0">
                <a:latin typeface="Times New Roman" panose="02020603050405020304" pitchFamily="18" charset="0"/>
                <a:cs typeface="Times New Roman" panose="02020603050405020304" pitchFamily="18" charset="0"/>
              </a:rPr>
              <a:t>Source URLs are retained alongside retrieved information throughout the workflow.</a:t>
            </a:r>
          </a:p>
          <a:p>
            <a:pPr>
              <a:lnSpc>
                <a:spcPct val="150000"/>
              </a:lnSpc>
            </a:pPr>
            <a:r>
              <a:rPr lang="en-IN" sz="2000" b="1" dirty="0">
                <a:latin typeface="Times New Roman" panose="02020603050405020304" pitchFamily="18" charset="0"/>
                <a:cs typeface="Times New Roman" panose="02020603050405020304" pitchFamily="18" charset="0"/>
              </a:rPr>
              <a:t>Benefit:</a:t>
            </a:r>
            <a:endParaRPr lang="en-IN" sz="2000" dirty="0">
              <a:latin typeface="Times New Roman" panose="02020603050405020304" pitchFamily="18" charset="0"/>
              <a:cs typeface="Times New Roman" panose="02020603050405020304" pitchFamily="18" charset="0"/>
            </a:endParaRPr>
          </a:p>
          <a:p>
            <a:pPr lvl="0">
              <a:lnSpc>
                <a:spcPct val="150000"/>
              </a:lnSpc>
            </a:pPr>
            <a:r>
              <a:rPr lang="en-IN" sz="2000" dirty="0">
                <a:latin typeface="Times New Roman" panose="02020603050405020304" pitchFamily="18" charset="0"/>
                <a:cs typeface="Times New Roman" panose="02020603050405020304" pitchFamily="18" charset="0"/>
              </a:rPr>
              <a:t>Traceability </a:t>
            </a:r>
          </a:p>
          <a:p>
            <a:pPr lvl="0">
              <a:lnSpc>
                <a:spcPct val="150000"/>
              </a:lnSpc>
            </a:pPr>
            <a:r>
              <a:rPr lang="en-IN" sz="2000" dirty="0">
                <a:latin typeface="Times New Roman" panose="02020603050405020304" pitchFamily="18" charset="0"/>
                <a:cs typeface="Times New Roman" panose="02020603050405020304" pitchFamily="18" charset="0"/>
              </a:rPr>
              <a:t>Easier verification </a:t>
            </a:r>
          </a:p>
          <a:p>
            <a:pPr lvl="0">
              <a:lnSpc>
                <a:spcPct val="150000"/>
              </a:lnSpc>
            </a:pPr>
            <a:r>
              <a:rPr lang="en-IN" sz="2000" dirty="0">
                <a:latin typeface="Times New Roman" panose="02020603050405020304" pitchFamily="18" charset="0"/>
                <a:cs typeface="Times New Roman" panose="02020603050405020304" pitchFamily="18" charset="0"/>
              </a:rPr>
              <a:t>Better transparency </a:t>
            </a:r>
          </a:p>
          <a:p>
            <a:pPr lvl="0">
              <a:lnSpc>
                <a:spcPct val="150000"/>
              </a:lnSpc>
            </a:pPr>
            <a:r>
              <a:rPr lang="en-IN" sz="2000" dirty="0">
                <a:latin typeface="Times New Roman" panose="02020603050405020304" pitchFamily="18" charset="0"/>
                <a:cs typeface="Times New Roman" panose="02020603050405020304" pitchFamily="18" charset="0"/>
              </a:rPr>
              <a:t>Easier debugging of retrieved information</a:t>
            </a:r>
          </a:p>
          <a:p>
            <a:pPr>
              <a:lnSpc>
                <a:spcPct val="150000"/>
              </a:lnSpc>
            </a:pPr>
            <a:r>
              <a:rPr lang="en-IN" sz="2000" b="1" dirty="0">
                <a:latin typeface="Times New Roman" panose="02020603050405020304" pitchFamily="18" charset="0"/>
                <a:cs typeface="Times New Roman" panose="02020603050405020304" pitchFamily="18" charset="0"/>
              </a:rPr>
              <a:t>13.8 Conversation-Aware State</a:t>
            </a:r>
          </a:p>
          <a:p>
            <a:pPr>
              <a:lnSpc>
                <a:spcPct val="150000"/>
              </a:lnSpc>
            </a:pPr>
            <a:r>
              <a:rPr lang="en-IN" sz="2000" dirty="0">
                <a:latin typeface="Times New Roman" panose="02020603050405020304" pitchFamily="18" charset="0"/>
                <a:cs typeface="Times New Roman" panose="02020603050405020304" pitchFamily="18" charset="0"/>
              </a:rPr>
              <a:t>Conversation memory is separated from the core company intelligence state while still being available to the workflow when required.</a:t>
            </a:r>
          </a:p>
        </p:txBody>
      </p:sp>
    </p:spTree>
    <p:extLst>
      <p:ext uri="{BB962C8B-B14F-4D97-AF65-F5344CB8AC3E}">
        <p14:creationId xmlns:p14="http://schemas.microsoft.com/office/powerpoint/2010/main" val="12192907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4E980-4520-03ED-3C67-EF3942BC2E7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DCFB5A6-AAF8-99CB-7531-6B01539B7800}"/>
              </a:ext>
            </a:extLst>
          </p:cNvPr>
          <p:cNvSpPr txBox="1"/>
          <p:nvPr/>
        </p:nvSpPr>
        <p:spPr>
          <a:xfrm>
            <a:off x="594360" y="320040"/>
            <a:ext cx="184731" cy="507831"/>
          </a:xfrm>
          <a:prstGeom prst="rect">
            <a:avLst/>
          </a:prstGeom>
          <a:noFill/>
        </p:spPr>
        <p:txBody>
          <a:bodyPr wrap="none">
            <a:spAutoFit/>
          </a:bodyPr>
          <a:lstStyle/>
          <a:p>
            <a:pPr>
              <a:defRPr sz="2700"/>
            </a:pPr>
            <a:endParaRPr dirty="0"/>
          </a:p>
        </p:txBody>
      </p:sp>
      <p:sp>
        <p:nvSpPr>
          <p:cNvPr id="5" name="TextBox 4">
            <a:extLst>
              <a:ext uri="{FF2B5EF4-FFF2-40B4-BE49-F238E27FC236}">
                <a16:creationId xmlns:a16="http://schemas.microsoft.com/office/drawing/2014/main" id="{4A823E6D-33B6-FF33-32C6-BC8D3344CCA7}"/>
              </a:ext>
            </a:extLst>
          </p:cNvPr>
          <p:cNvSpPr txBox="1"/>
          <p:nvPr/>
        </p:nvSpPr>
        <p:spPr>
          <a:xfrm>
            <a:off x="387882" y="133465"/>
            <a:ext cx="10663575" cy="6038641"/>
          </a:xfrm>
          <a:prstGeom prst="rect">
            <a:avLst/>
          </a:prstGeom>
          <a:noFill/>
        </p:spPr>
        <p:txBody>
          <a:bodyPr wrap="square">
            <a:spAutoFit/>
          </a:bodyPr>
          <a:lstStyle/>
          <a:p>
            <a:pPr>
              <a:lnSpc>
                <a:spcPct val="150000"/>
              </a:lnSpc>
              <a:buNone/>
            </a:pPr>
            <a:r>
              <a:rPr lang="en-IN" sz="2000" dirty="0">
                <a:latin typeface="Times New Roman" panose="02020603050405020304" pitchFamily="18" charset="0"/>
                <a:cs typeface="Times New Roman" panose="02020603050405020304" pitchFamily="18" charset="0"/>
              </a:rPr>
              <a:t>This allows follow-up queries such as:</a:t>
            </a:r>
          </a:p>
          <a:p>
            <a:pPr>
              <a:lnSpc>
                <a:spcPct val="150000"/>
              </a:lnSpc>
              <a:buNone/>
            </a:pPr>
            <a:r>
              <a:rPr lang="en-IN" sz="2000" dirty="0">
                <a:latin typeface="Times New Roman" panose="02020603050405020304" pitchFamily="18" charset="0"/>
                <a:cs typeface="Times New Roman" panose="02020603050405020304" pitchFamily="18" charset="0"/>
              </a:rPr>
              <a:t>“What about their latest announcement?”</a:t>
            </a:r>
          </a:p>
          <a:p>
            <a:pPr>
              <a:lnSpc>
                <a:spcPct val="150000"/>
              </a:lnSpc>
              <a:buNone/>
            </a:pPr>
            <a:r>
              <a:rPr lang="en-IN" sz="2000" dirty="0">
                <a:latin typeface="Times New Roman" panose="02020603050405020304" pitchFamily="18" charset="0"/>
                <a:cs typeface="Times New Roman" panose="02020603050405020304" pitchFamily="18" charset="0"/>
              </a:rPr>
              <a:t>to be interpreted using the previously established company context.</a:t>
            </a:r>
          </a:p>
          <a:p>
            <a:pPr>
              <a:lnSpc>
                <a:spcPct val="150000"/>
              </a:lnSpc>
            </a:pPr>
            <a:r>
              <a:rPr lang="en-IN" sz="2000" b="1" dirty="0">
                <a:latin typeface="Times New Roman" panose="02020603050405020304" pitchFamily="18" charset="0"/>
                <a:cs typeface="Times New Roman" panose="02020603050405020304" pitchFamily="18" charset="0"/>
              </a:rPr>
              <a:t>13.9 Configuration-Driven </a:t>
            </a:r>
            <a:r>
              <a:rPr lang="en-IN" sz="2000" b="1" dirty="0" err="1">
                <a:latin typeface="Times New Roman" panose="02020603050405020304" pitchFamily="18" charset="0"/>
                <a:cs typeface="Times New Roman" panose="02020603050405020304" pitchFamily="18" charset="0"/>
              </a:rPr>
              <a:t>Behavior</a:t>
            </a:r>
            <a:endParaRPr lang="en-IN" sz="2000" b="1" dirty="0">
              <a:latin typeface="Times New Roman" panose="02020603050405020304" pitchFamily="18" charset="0"/>
              <a:cs typeface="Times New Roman" panose="02020603050405020304" pitchFamily="18" charset="0"/>
            </a:endParaRPr>
          </a:p>
          <a:p>
            <a:pPr>
              <a:lnSpc>
                <a:spcPct val="150000"/>
              </a:lnSpc>
            </a:pPr>
            <a:r>
              <a:rPr lang="en-IN" sz="2000" dirty="0">
                <a:latin typeface="Times New Roman" panose="02020603050405020304" pitchFamily="18" charset="0"/>
                <a:cs typeface="Times New Roman" panose="02020603050405020304" pitchFamily="18" charset="0"/>
              </a:rPr>
              <a:t>Environment variables and configuration determine provider selection, demo mode, API credentials, and model settings.</a:t>
            </a:r>
          </a:p>
          <a:p>
            <a:pPr>
              <a:lnSpc>
                <a:spcPct val="150000"/>
              </a:lnSpc>
            </a:pPr>
            <a:r>
              <a:rPr lang="en-IN" sz="2000" b="1" dirty="0">
                <a:latin typeface="Times New Roman" panose="02020603050405020304" pitchFamily="18" charset="0"/>
                <a:cs typeface="Times New Roman" panose="02020603050405020304" pitchFamily="18" charset="0"/>
              </a:rPr>
              <a:t>Benefit:</a:t>
            </a:r>
            <a:endParaRPr lang="en-IN" sz="2000" dirty="0">
              <a:latin typeface="Times New Roman" panose="02020603050405020304" pitchFamily="18" charset="0"/>
              <a:cs typeface="Times New Roman" panose="02020603050405020304" pitchFamily="18" charset="0"/>
            </a:endParaRPr>
          </a:p>
          <a:p>
            <a:pPr lvl="0">
              <a:lnSpc>
                <a:spcPct val="150000"/>
              </a:lnSpc>
            </a:pPr>
            <a:r>
              <a:rPr lang="en-IN" sz="2000" dirty="0">
                <a:latin typeface="Times New Roman" panose="02020603050405020304" pitchFamily="18" charset="0"/>
                <a:cs typeface="Times New Roman" panose="02020603050405020304" pitchFamily="18" charset="0"/>
              </a:rPr>
              <a:t>No hard-coded credentials </a:t>
            </a:r>
          </a:p>
          <a:p>
            <a:pPr lvl="0">
              <a:lnSpc>
                <a:spcPct val="150000"/>
              </a:lnSpc>
            </a:pPr>
            <a:r>
              <a:rPr lang="en-IN" sz="2000" dirty="0">
                <a:latin typeface="Times New Roman" panose="02020603050405020304" pitchFamily="18" charset="0"/>
                <a:cs typeface="Times New Roman" panose="02020603050405020304" pitchFamily="18" charset="0"/>
              </a:rPr>
              <a:t>Environment-specific configuration </a:t>
            </a:r>
          </a:p>
          <a:p>
            <a:pPr lvl="0">
              <a:lnSpc>
                <a:spcPct val="150000"/>
              </a:lnSpc>
            </a:pPr>
            <a:r>
              <a:rPr lang="en-IN" sz="2000" dirty="0">
                <a:latin typeface="Times New Roman" panose="02020603050405020304" pitchFamily="18" charset="0"/>
                <a:cs typeface="Times New Roman" panose="02020603050405020304" pitchFamily="18" charset="0"/>
              </a:rPr>
              <a:t>Easier deployment </a:t>
            </a:r>
          </a:p>
          <a:p>
            <a:pPr lvl="0">
              <a:lnSpc>
                <a:spcPct val="150000"/>
              </a:lnSpc>
            </a:pPr>
            <a:r>
              <a:rPr lang="en-IN" sz="2000" dirty="0">
                <a:latin typeface="Times New Roman" panose="02020603050405020304" pitchFamily="18" charset="0"/>
                <a:cs typeface="Times New Roman" panose="02020603050405020304" pitchFamily="18" charset="0"/>
              </a:rPr>
              <a:t>Cleaner development/production separation</a:t>
            </a:r>
          </a:p>
          <a:p>
            <a:pPr>
              <a:lnSpc>
                <a:spcPct val="150000"/>
              </a:lnSpc>
            </a:pPr>
            <a:r>
              <a:rPr lang="en-IN" sz="2000" b="1" dirty="0">
                <a:latin typeface="Times New Roman" panose="02020603050405020304" pitchFamily="18" charset="0"/>
                <a:cs typeface="Times New Roman" panose="02020603050405020304" pitchFamily="18" charset="0"/>
              </a:rPr>
              <a:t>13.10 Graceful Error Handling</a:t>
            </a:r>
          </a:p>
          <a:p>
            <a:pPr>
              <a:lnSpc>
                <a:spcPct val="150000"/>
              </a:lnSpc>
            </a:pPr>
            <a:r>
              <a:rPr lang="en-IN" sz="2000" dirty="0">
                <a:latin typeface="Times New Roman" panose="02020603050405020304" pitchFamily="18" charset="0"/>
                <a:cs typeface="Times New Roman" panose="02020603050405020304" pitchFamily="18" charset="0"/>
              </a:rPr>
              <a:t>Individual tool or provider failures should not unnecessarily terminate the entire workflow.</a:t>
            </a:r>
          </a:p>
        </p:txBody>
      </p:sp>
    </p:spTree>
    <p:extLst>
      <p:ext uri="{BB962C8B-B14F-4D97-AF65-F5344CB8AC3E}">
        <p14:creationId xmlns:p14="http://schemas.microsoft.com/office/powerpoint/2010/main" val="19059981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0DA65-F936-1F79-2045-AC941B4EF82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D03C40F-0960-BE93-B301-A00805F35F43}"/>
              </a:ext>
            </a:extLst>
          </p:cNvPr>
          <p:cNvSpPr txBox="1"/>
          <p:nvPr/>
        </p:nvSpPr>
        <p:spPr>
          <a:xfrm>
            <a:off x="594360" y="320040"/>
            <a:ext cx="184731" cy="507831"/>
          </a:xfrm>
          <a:prstGeom prst="rect">
            <a:avLst/>
          </a:prstGeom>
          <a:noFill/>
        </p:spPr>
        <p:txBody>
          <a:bodyPr wrap="none">
            <a:spAutoFit/>
          </a:bodyPr>
          <a:lstStyle/>
          <a:p>
            <a:pPr>
              <a:defRPr sz="2700"/>
            </a:pPr>
            <a:endParaRPr dirty="0"/>
          </a:p>
        </p:txBody>
      </p:sp>
      <p:sp>
        <p:nvSpPr>
          <p:cNvPr id="4" name="TextBox 3">
            <a:extLst>
              <a:ext uri="{FF2B5EF4-FFF2-40B4-BE49-F238E27FC236}">
                <a16:creationId xmlns:a16="http://schemas.microsoft.com/office/drawing/2014/main" id="{AA566826-EE93-1F46-A449-11E7EE4C473F}"/>
              </a:ext>
            </a:extLst>
          </p:cNvPr>
          <p:cNvSpPr txBox="1"/>
          <p:nvPr/>
        </p:nvSpPr>
        <p:spPr>
          <a:xfrm>
            <a:off x="405464" y="320040"/>
            <a:ext cx="10724651" cy="6044603"/>
          </a:xfrm>
          <a:prstGeom prst="rect">
            <a:avLst/>
          </a:prstGeom>
          <a:noFill/>
        </p:spPr>
        <p:txBody>
          <a:bodyPr wrap="square">
            <a:spAutoFit/>
          </a:bodyPr>
          <a:lstStyle/>
          <a:p>
            <a:pPr>
              <a:lnSpc>
                <a:spcPct val="150000"/>
              </a:lnSpc>
            </a:pPr>
            <a:r>
              <a:rPr lang="en-IN" sz="2000" b="1" dirty="0">
                <a:latin typeface="Times New Roman" panose="02020603050405020304" pitchFamily="18" charset="0"/>
                <a:cs typeface="Times New Roman" panose="02020603050405020304" pitchFamily="18" charset="0"/>
              </a:rPr>
              <a:t>Benefit:</a:t>
            </a:r>
            <a:endParaRPr lang="en-IN" sz="2000" dirty="0">
              <a:latin typeface="Times New Roman" panose="02020603050405020304" pitchFamily="18" charset="0"/>
              <a:cs typeface="Times New Roman" panose="02020603050405020304" pitchFamily="18" charset="0"/>
            </a:endParaRPr>
          </a:p>
          <a:p>
            <a:pPr lvl="0">
              <a:lnSpc>
                <a:spcPct val="150000"/>
              </a:lnSpc>
            </a:pPr>
            <a:r>
              <a:rPr lang="en-IN" sz="2000" dirty="0">
                <a:latin typeface="Times New Roman" panose="02020603050405020304" pitchFamily="18" charset="0"/>
                <a:cs typeface="Times New Roman" panose="02020603050405020304" pitchFamily="18" charset="0"/>
              </a:rPr>
              <a:t>Improved resilience </a:t>
            </a:r>
          </a:p>
          <a:p>
            <a:pPr lvl="0">
              <a:lnSpc>
                <a:spcPct val="150000"/>
              </a:lnSpc>
            </a:pPr>
            <a:r>
              <a:rPr lang="en-IN" sz="2000" dirty="0">
                <a:latin typeface="Times New Roman" panose="02020603050405020304" pitchFamily="18" charset="0"/>
                <a:cs typeface="Times New Roman" panose="02020603050405020304" pitchFamily="18" charset="0"/>
              </a:rPr>
              <a:t>Better user experience </a:t>
            </a:r>
          </a:p>
          <a:p>
            <a:pPr lvl="0">
              <a:lnSpc>
                <a:spcPct val="150000"/>
              </a:lnSpc>
            </a:pPr>
            <a:r>
              <a:rPr lang="en-IN" sz="2000" dirty="0">
                <a:latin typeface="Times New Roman" panose="02020603050405020304" pitchFamily="18" charset="0"/>
                <a:cs typeface="Times New Roman" panose="02020603050405020304" pitchFamily="18" charset="0"/>
              </a:rPr>
              <a:t>Partial results can still be returned </a:t>
            </a:r>
          </a:p>
          <a:p>
            <a:pPr lvl="0">
              <a:lnSpc>
                <a:spcPct val="150000"/>
              </a:lnSpc>
            </a:pPr>
            <a:r>
              <a:rPr lang="en-IN" sz="2000" dirty="0">
                <a:latin typeface="Times New Roman" panose="02020603050405020304" pitchFamily="18" charset="0"/>
                <a:cs typeface="Times New Roman" panose="02020603050405020304" pitchFamily="18" charset="0"/>
              </a:rPr>
              <a:t>Easier troubleshooting</a:t>
            </a:r>
          </a:p>
          <a:p>
            <a:pPr>
              <a:lnSpc>
                <a:spcPct val="150000"/>
              </a:lnSpc>
            </a:pPr>
            <a:r>
              <a:rPr lang="en-IN" sz="2000" b="1" dirty="0">
                <a:latin typeface="Times New Roman" panose="02020603050405020304" pitchFamily="18" charset="0"/>
                <a:cs typeface="Times New Roman" panose="02020603050405020304" pitchFamily="18" charset="0"/>
              </a:rPr>
              <a:t>13.11 Observability</a:t>
            </a:r>
          </a:p>
          <a:p>
            <a:pPr>
              <a:lnSpc>
                <a:spcPct val="150000"/>
              </a:lnSpc>
            </a:pPr>
            <a:r>
              <a:rPr lang="en-IN" sz="2000" dirty="0">
                <a:latin typeface="Times New Roman" panose="02020603050405020304" pitchFamily="18" charset="0"/>
                <a:cs typeface="Times New Roman" panose="02020603050405020304" pitchFamily="18" charset="0"/>
              </a:rPr>
              <a:t>Important workflow events can be logged to understand how the multi-agent system executes.</a:t>
            </a:r>
          </a:p>
          <a:p>
            <a:pPr>
              <a:lnSpc>
                <a:spcPct val="150000"/>
              </a:lnSpc>
            </a:pPr>
            <a:r>
              <a:rPr lang="en-IN" sz="2000" dirty="0">
                <a:latin typeface="Times New Roman" panose="02020603050405020304" pitchFamily="18" charset="0"/>
                <a:cs typeface="Times New Roman" panose="02020603050405020304" pitchFamily="18" charset="0"/>
              </a:rPr>
              <a:t>Useful metadata includes:</a:t>
            </a:r>
          </a:p>
          <a:p>
            <a:pPr>
              <a:lnSpc>
                <a:spcPct val="150000"/>
              </a:lnSpc>
            </a:pPr>
            <a:r>
              <a:rPr lang="en-IN" sz="2000" dirty="0">
                <a:latin typeface="Times New Roman" panose="02020603050405020304" pitchFamily="18" charset="0"/>
                <a:cs typeface="Times New Roman" panose="02020603050405020304" pitchFamily="18" charset="0"/>
              </a:rPr>
              <a:t>Session ID                                                   Agent execution </a:t>
            </a:r>
          </a:p>
          <a:p>
            <a:pPr lvl="0">
              <a:lnSpc>
                <a:spcPct val="150000"/>
              </a:lnSpc>
            </a:pPr>
            <a:r>
              <a:rPr lang="en-IN" sz="2000" dirty="0">
                <a:latin typeface="Times New Roman" panose="02020603050405020304" pitchFamily="18" charset="0"/>
                <a:cs typeface="Times New Roman" panose="02020603050405020304" pitchFamily="18" charset="0"/>
              </a:rPr>
              <a:t>Tool execution status                                  Errors </a:t>
            </a:r>
          </a:p>
          <a:p>
            <a:pPr lvl="0">
              <a:lnSpc>
                <a:spcPct val="150000"/>
              </a:lnSpc>
            </a:pPr>
            <a:r>
              <a:rPr lang="en-IN" sz="2000" dirty="0">
                <a:latin typeface="Times New Roman" panose="02020603050405020304" pitchFamily="18" charset="0"/>
                <a:cs typeface="Times New Roman" panose="02020603050405020304" pitchFamily="18" charset="0"/>
              </a:rPr>
              <a:t>Response latency                                        Provider/model used </a:t>
            </a:r>
          </a:p>
          <a:p>
            <a:pPr lvl="0">
              <a:lnSpc>
                <a:spcPct val="150000"/>
              </a:lnSpc>
            </a:pPr>
            <a:r>
              <a:rPr lang="en-IN" sz="2000" dirty="0">
                <a:latin typeface="Times New Roman" panose="02020603050405020304" pitchFamily="18" charset="0"/>
                <a:cs typeface="Times New Roman" panose="02020603050405020304" pitchFamily="18" charset="0"/>
              </a:rPr>
              <a:t>Retrieved sources </a:t>
            </a:r>
          </a:p>
          <a:p>
            <a:pPr>
              <a:lnSpc>
                <a:spcPct val="150000"/>
              </a:lnSpc>
            </a:pPr>
            <a:r>
              <a:rPr lang="en-IN" sz="2000" dirty="0">
                <a:latin typeface="Times New Roman" panose="02020603050405020304" pitchFamily="18" charset="0"/>
                <a:cs typeface="Times New Roman" panose="02020603050405020304" pitchFamily="18" charset="0"/>
              </a:rPr>
              <a:t>This is particularly valuable when debugging multi-step </a:t>
            </a:r>
            <a:r>
              <a:rPr lang="en-IN" sz="2000" dirty="0" err="1">
                <a:latin typeface="Times New Roman" panose="02020603050405020304" pitchFamily="18" charset="0"/>
                <a:cs typeface="Times New Roman" panose="02020603050405020304" pitchFamily="18" charset="0"/>
              </a:rPr>
              <a:t>LangGraph</a:t>
            </a:r>
            <a:r>
              <a:rPr lang="en-IN" sz="2000" dirty="0">
                <a:latin typeface="Times New Roman" panose="02020603050405020304" pitchFamily="18" charset="0"/>
                <a:cs typeface="Times New Roman" panose="02020603050405020304" pitchFamily="18" charset="0"/>
              </a:rPr>
              <a:t> workflows</a:t>
            </a:r>
            <a:r>
              <a:rPr lang="en-IN" sz="2000" dirty="0"/>
              <a:t>.</a:t>
            </a:r>
          </a:p>
        </p:txBody>
      </p:sp>
    </p:spTree>
    <p:extLst>
      <p:ext uri="{BB962C8B-B14F-4D97-AF65-F5344CB8AC3E}">
        <p14:creationId xmlns:p14="http://schemas.microsoft.com/office/powerpoint/2010/main" val="6543207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0347D36-A326-0E4C-5A42-3959F0B80B90}"/>
              </a:ext>
            </a:extLst>
          </p:cNvPr>
          <p:cNvPicPr>
            <a:picLocks noChangeAspect="1"/>
          </p:cNvPicPr>
          <p:nvPr/>
        </p:nvPicPr>
        <p:blipFill>
          <a:blip r:embed="rId2"/>
          <a:stretch>
            <a:fillRect/>
          </a:stretch>
        </p:blipFill>
        <p:spPr>
          <a:xfrm>
            <a:off x="1002890" y="1012723"/>
            <a:ext cx="10943304" cy="5692877"/>
          </a:xfrm>
          <a:prstGeom prst="rect">
            <a:avLst/>
          </a:prstGeom>
        </p:spPr>
      </p:pic>
      <p:sp>
        <p:nvSpPr>
          <p:cNvPr id="7" name="TextBox 6">
            <a:extLst>
              <a:ext uri="{FF2B5EF4-FFF2-40B4-BE49-F238E27FC236}">
                <a16:creationId xmlns:a16="http://schemas.microsoft.com/office/drawing/2014/main" id="{6AA6AF00-2C7E-2A22-AE3F-7ACBD3BCDCD1}"/>
              </a:ext>
            </a:extLst>
          </p:cNvPr>
          <p:cNvSpPr txBox="1"/>
          <p:nvPr/>
        </p:nvSpPr>
        <p:spPr>
          <a:xfrm>
            <a:off x="1002890" y="316779"/>
            <a:ext cx="814111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14. RECOMMENDED LIVE DEMONSTRATION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7304" y="183863"/>
            <a:ext cx="10698480" cy="6130974"/>
          </a:xfrm>
          <a:prstGeom prst="rect">
            <a:avLst/>
          </a:prstGeom>
          <a:noFill/>
        </p:spPr>
        <p:txBody>
          <a:bodyPr wrap="square">
            <a:spAutoFit/>
          </a:bodyPr>
          <a:lstStyle/>
          <a:p>
            <a:pPr>
              <a:lnSpc>
                <a:spcPct val="150000"/>
              </a:lnSpc>
            </a:pPr>
            <a:r>
              <a:rPr lang="en-IN" sz="2400" b="1" dirty="0">
                <a:latin typeface="Times New Roman" panose="02020603050405020304" pitchFamily="18" charset="0"/>
                <a:cs typeface="Times New Roman" panose="02020603050405020304" pitchFamily="18" charset="0"/>
              </a:rPr>
              <a:t>15. KEY TAKEAWAY</a:t>
            </a:r>
          </a:p>
          <a:p>
            <a:pPr>
              <a:lnSpc>
                <a:spcPct val="150000"/>
              </a:lnSpc>
            </a:pPr>
            <a:r>
              <a:rPr lang="en-IN" sz="2000" dirty="0">
                <a:latin typeface="Times New Roman" panose="02020603050405020304" pitchFamily="18" charset="0"/>
                <a:cs typeface="Times New Roman" panose="02020603050405020304" pitchFamily="18" charset="0"/>
              </a:rPr>
              <a:t>The project demonstrates two complementary Agentic AI workflows built on a modular and extensible architecture.</a:t>
            </a:r>
          </a:p>
          <a:p>
            <a:pPr>
              <a:lnSpc>
                <a:spcPct val="150000"/>
              </a:lnSpc>
            </a:pPr>
            <a:r>
              <a:rPr lang="en-IN" sz="2000" b="1" dirty="0">
                <a:latin typeface="Times New Roman" panose="02020603050405020304" pitchFamily="18" charset="0"/>
                <a:cs typeface="Times New Roman" panose="02020603050405020304" pitchFamily="18" charset="0"/>
              </a:rPr>
              <a:t>15.1 Task 1 — Company Intelligence</a:t>
            </a:r>
          </a:p>
          <a:p>
            <a:pPr>
              <a:lnSpc>
                <a:spcPct val="150000"/>
              </a:lnSpc>
            </a:pPr>
            <a:r>
              <a:rPr lang="en-IN" sz="2000" dirty="0">
                <a:latin typeface="Times New Roman" panose="02020603050405020304" pitchFamily="18" charset="0"/>
                <a:cs typeface="Times New Roman" panose="02020603050405020304" pitchFamily="18" charset="0"/>
              </a:rPr>
              <a:t>Task 1 demonstrates </a:t>
            </a:r>
            <a:r>
              <a:rPr lang="en-IN" sz="2000" b="1" dirty="0">
                <a:latin typeface="Times New Roman" panose="02020603050405020304" pitchFamily="18" charset="0"/>
                <a:cs typeface="Times New Roman" panose="02020603050405020304" pitchFamily="18" charset="0"/>
              </a:rPr>
              <a:t>multi-agent orchestration, tool integration, shared state management, and structured information synthesis</a:t>
            </a:r>
            <a:r>
              <a:rPr lang="en-IN" sz="2000" dirty="0">
                <a:latin typeface="Times New Roman" panose="02020603050405020304" pitchFamily="18" charset="0"/>
                <a:cs typeface="Times New Roman" panose="02020603050405020304" pitchFamily="18" charset="0"/>
              </a:rPr>
              <a:t>.</a:t>
            </a:r>
          </a:p>
          <a:p>
            <a:pPr>
              <a:lnSpc>
                <a:spcPct val="150000"/>
              </a:lnSpc>
            </a:pPr>
            <a:r>
              <a:rPr lang="en-IN" sz="2000" b="1" dirty="0">
                <a:latin typeface="Times New Roman" panose="02020603050405020304" pitchFamily="18" charset="0"/>
                <a:cs typeface="Times New Roman" panose="02020603050405020304" pitchFamily="18" charset="0"/>
              </a:rPr>
              <a:t>Key capabilities:</a:t>
            </a:r>
            <a:endParaRPr lang="en-IN" sz="2000" dirty="0">
              <a:latin typeface="Times New Roman" panose="02020603050405020304" pitchFamily="18" charset="0"/>
              <a:cs typeface="Times New Roman" panose="02020603050405020304" pitchFamily="18" charset="0"/>
            </a:endParaRPr>
          </a:p>
          <a:p>
            <a:pPr lvl="0">
              <a:lnSpc>
                <a:spcPct val="150000"/>
              </a:lnSpc>
            </a:pPr>
            <a:r>
              <a:rPr lang="en-IN" sz="2000" dirty="0">
                <a:latin typeface="Times New Roman" panose="02020603050405020304" pitchFamily="18" charset="0"/>
                <a:cs typeface="Times New Roman" panose="02020603050405020304" pitchFamily="18" charset="0"/>
              </a:rPr>
              <a:t>Multi-agent workflow orchestration using </a:t>
            </a:r>
            <a:r>
              <a:rPr lang="en-IN" sz="2000" dirty="0" err="1">
                <a:latin typeface="Times New Roman" panose="02020603050405020304" pitchFamily="18" charset="0"/>
                <a:cs typeface="Times New Roman" panose="02020603050405020304" pitchFamily="18" charset="0"/>
              </a:rPr>
              <a:t>LangGraph</a:t>
            </a:r>
            <a:r>
              <a:rPr lang="en-IN" sz="2000" dirty="0">
                <a:latin typeface="Times New Roman" panose="02020603050405020304" pitchFamily="18" charset="0"/>
                <a:cs typeface="Times New Roman" panose="02020603050405020304" pitchFamily="18" charset="0"/>
              </a:rPr>
              <a:t> </a:t>
            </a:r>
          </a:p>
          <a:p>
            <a:pPr lvl="0">
              <a:lnSpc>
                <a:spcPct val="150000"/>
              </a:lnSpc>
            </a:pPr>
            <a:r>
              <a:rPr lang="en-IN" sz="2000" dirty="0">
                <a:latin typeface="Times New Roman" panose="02020603050405020304" pitchFamily="18" charset="0"/>
                <a:cs typeface="Times New Roman" panose="02020603050405020304" pitchFamily="18" charset="0"/>
              </a:rPr>
              <a:t>Specialized agents with clearly defined responsibilities </a:t>
            </a:r>
          </a:p>
          <a:p>
            <a:pPr lvl="0">
              <a:lnSpc>
                <a:spcPct val="150000"/>
              </a:lnSpc>
            </a:pPr>
            <a:r>
              <a:rPr lang="en-IN" sz="2000" dirty="0">
                <a:latin typeface="Times New Roman" panose="02020603050405020304" pitchFamily="18" charset="0"/>
                <a:cs typeface="Times New Roman" panose="02020603050405020304" pitchFamily="18" charset="0"/>
              </a:rPr>
              <a:t>Tool-based external information retrieval </a:t>
            </a:r>
          </a:p>
          <a:p>
            <a:pPr lvl="0">
              <a:lnSpc>
                <a:spcPct val="150000"/>
              </a:lnSpc>
            </a:pPr>
            <a:r>
              <a:rPr lang="en-IN" sz="2000" dirty="0">
                <a:latin typeface="Times New Roman" panose="02020603050405020304" pitchFamily="18" charset="0"/>
                <a:cs typeface="Times New Roman" panose="02020603050405020304" pitchFamily="18" charset="0"/>
              </a:rPr>
              <a:t>Typed </a:t>
            </a:r>
            <a:r>
              <a:rPr lang="en-IN" sz="2000" dirty="0" err="1">
                <a:latin typeface="Times New Roman" panose="02020603050405020304" pitchFamily="18" charset="0"/>
                <a:cs typeface="Times New Roman" panose="02020603050405020304" pitchFamily="18" charset="0"/>
              </a:rPr>
              <a:t>CompanyState</a:t>
            </a:r>
            <a:r>
              <a:rPr lang="en-IN" sz="2000" dirty="0">
                <a:latin typeface="Times New Roman" panose="02020603050405020304" pitchFamily="18" charset="0"/>
                <a:cs typeface="Times New Roman" panose="02020603050405020304" pitchFamily="18" charset="0"/>
              </a:rPr>
              <a:t> for controlled information flow </a:t>
            </a:r>
          </a:p>
          <a:p>
            <a:pPr lvl="0">
              <a:lnSpc>
                <a:spcPct val="150000"/>
              </a:lnSpc>
            </a:pPr>
            <a:r>
              <a:rPr lang="en-IN" sz="2000" dirty="0">
                <a:latin typeface="Times New Roman" panose="02020603050405020304" pitchFamily="18" charset="0"/>
                <a:cs typeface="Times New Roman" panose="02020603050405020304" pitchFamily="18" charset="0"/>
              </a:rPr>
              <a:t>Source preservation and traceability </a:t>
            </a:r>
          </a:p>
          <a:p>
            <a:pPr lvl="0">
              <a:lnSpc>
                <a:spcPct val="150000"/>
              </a:lnSpc>
            </a:pPr>
            <a:r>
              <a:rPr lang="en-IN" sz="2000" dirty="0">
                <a:latin typeface="Times New Roman" panose="02020603050405020304" pitchFamily="18" charset="0"/>
                <a:cs typeface="Times New Roman" panose="02020603050405020304" pitchFamily="18" charset="0"/>
              </a:rPr>
              <a:t>Structured synthesis of facts and analytical insights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2B494-F85B-9E6C-9D34-19A3F9950EE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4FCF56D-698E-1D5A-DB6D-7943D8C602EA}"/>
              </a:ext>
            </a:extLst>
          </p:cNvPr>
          <p:cNvSpPr txBox="1"/>
          <p:nvPr/>
        </p:nvSpPr>
        <p:spPr>
          <a:xfrm>
            <a:off x="594360" y="320040"/>
            <a:ext cx="184731" cy="507831"/>
          </a:xfrm>
          <a:prstGeom prst="rect">
            <a:avLst/>
          </a:prstGeom>
          <a:noFill/>
        </p:spPr>
        <p:txBody>
          <a:bodyPr wrap="none">
            <a:spAutoFit/>
          </a:bodyPr>
          <a:lstStyle/>
          <a:p>
            <a:pPr>
              <a:defRPr sz="2700"/>
            </a:pPr>
            <a:endParaRPr dirty="0"/>
          </a:p>
        </p:txBody>
      </p:sp>
      <p:sp>
        <p:nvSpPr>
          <p:cNvPr id="4" name="TextBox 3">
            <a:extLst>
              <a:ext uri="{FF2B5EF4-FFF2-40B4-BE49-F238E27FC236}">
                <a16:creationId xmlns:a16="http://schemas.microsoft.com/office/drawing/2014/main" id="{9EBB537F-EFCA-3C33-8387-7AFDB529D8EE}"/>
              </a:ext>
            </a:extLst>
          </p:cNvPr>
          <p:cNvSpPr txBox="1"/>
          <p:nvPr/>
        </p:nvSpPr>
        <p:spPr>
          <a:xfrm>
            <a:off x="334297" y="395359"/>
            <a:ext cx="10815484" cy="6038641"/>
          </a:xfrm>
          <a:prstGeom prst="rect">
            <a:avLst/>
          </a:prstGeom>
          <a:noFill/>
        </p:spPr>
        <p:txBody>
          <a:bodyPr wrap="square">
            <a:spAutoFit/>
          </a:bodyPr>
          <a:lstStyle/>
          <a:p>
            <a:pPr>
              <a:lnSpc>
                <a:spcPct val="150000"/>
              </a:lnSpc>
            </a:pPr>
            <a:r>
              <a:rPr lang="en-IN" sz="2000" b="1" dirty="0">
                <a:latin typeface="Times New Roman" panose="02020603050405020304" pitchFamily="18" charset="0"/>
                <a:cs typeface="Times New Roman" panose="02020603050405020304" pitchFamily="18" charset="0"/>
              </a:rPr>
              <a:t>15.2 Task 2 — Conversational Knowledge Bot</a:t>
            </a:r>
          </a:p>
          <a:p>
            <a:pPr>
              <a:lnSpc>
                <a:spcPct val="150000"/>
              </a:lnSpc>
            </a:pPr>
            <a:r>
              <a:rPr lang="en-IN" sz="2000" dirty="0">
                <a:latin typeface="Times New Roman" panose="02020603050405020304" pitchFamily="18" charset="0"/>
                <a:cs typeface="Times New Roman" panose="02020603050405020304" pitchFamily="18" charset="0"/>
              </a:rPr>
              <a:t>Task 2 demonstrates </a:t>
            </a:r>
            <a:r>
              <a:rPr lang="en-IN" sz="2000" b="1" dirty="0">
                <a:latin typeface="Times New Roman" panose="02020603050405020304" pitchFamily="18" charset="0"/>
                <a:cs typeface="Times New Roman" panose="02020603050405020304" pitchFamily="18" charset="0"/>
              </a:rPr>
              <a:t>conversation-aware reasoning, context retrieval, pronoun resolution, and source-grounded responses</a:t>
            </a:r>
            <a:r>
              <a:rPr lang="en-IN" sz="2000" dirty="0">
                <a:latin typeface="Times New Roman" panose="02020603050405020304" pitchFamily="18" charset="0"/>
                <a:cs typeface="Times New Roman" panose="02020603050405020304" pitchFamily="18" charset="0"/>
              </a:rPr>
              <a:t>.</a:t>
            </a:r>
          </a:p>
          <a:p>
            <a:pPr>
              <a:lnSpc>
                <a:spcPct val="150000"/>
              </a:lnSpc>
            </a:pPr>
            <a:r>
              <a:rPr lang="en-IN" sz="2000" b="1" dirty="0">
                <a:latin typeface="Times New Roman" panose="02020603050405020304" pitchFamily="18" charset="0"/>
                <a:cs typeface="Times New Roman" panose="02020603050405020304" pitchFamily="18" charset="0"/>
              </a:rPr>
              <a:t>Key capabilities:</a:t>
            </a:r>
            <a:endParaRPr lang="en-IN" sz="2000" dirty="0">
              <a:latin typeface="Times New Roman" panose="02020603050405020304" pitchFamily="18" charset="0"/>
              <a:cs typeface="Times New Roman" panose="02020603050405020304" pitchFamily="18" charset="0"/>
            </a:endParaRPr>
          </a:p>
          <a:p>
            <a:pPr lvl="0">
              <a:lnSpc>
                <a:spcPct val="150000"/>
              </a:lnSpc>
            </a:pPr>
            <a:r>
              <a:rPr lang="en-IN" sz="2000" dirty="0">
                <a:latin typeface="Times New Roman" panose="02020603050405020304" pitchFamily="18" charset="0"/>
                <a:cs typeface="Times New Roman" panose="02020603050405020304" pitchFamily="18" charset="0"/>
              </a:rPr>
              <a:t>Persistent conversation context within a session </a:t>
            </a:r>
          </a:p>
          <a:p>
            <a:pPr lvl="0">
              <a:lnSpc>
                <a:spcPct val="150000"/>
              </a:lnSpc>
            </a:pPr>
            <a:r>
              <a:rPr lang="en-IN" sz="2000" dirty="0">
                <a:latin typeface="Times New Roman" panose="02020603050405020304" pitchFamily="18" charset="0"/>
                <a:cs typeface="Times New Roman" panose="02020603050405020304" pitchFamily="18" charset="0"/>
              </a:rPr>
              <a:t>Context-dependent follow-up question handling </a:t>
            </a:r>
          </a:p>
          <a:p>
            <a:pPr lvl="0">
              <a:lnSpc>
                <a:spcPct val="150000"/>
              </a:lnSpc>
            </a:pPr>
            <a:r>
              <a:rPr lang="en-IN" sz="2000" dirty="0">
                <a:latin typeface="Times New Roman" panose="02020603050405020304" pitchFamily="18" charset="0"/>
                <a:cs typeface="Times New Roman" panose="02020603050405020304" pitchFamily="18" charset="0"/>
              </a:rPr>
              <a:t>Pronoun resolution such as </a:t>
            </a:r>
            <a:r>
              <a:rPr lang="en-IN" sz="2000" i="1" dirty="0">
                <a:latin typeface="Times New Roman" panose="02020603050405020304" pitchFamily="18" charset="0"/>
                <a:cs typeface="Times New Roman" panose="02020603050405020304" pitchFamily="18" charset="0"/>
              </a:rPr>
              <a:t>“it,” “they,” “their,”</a:t>
            </a:r>
            <a:r>
              <a:rPr lang="en-IN" sz="2000" dirty="0">
                <a:latin typeface="Times New Roman" panose="02020603050405020304" pitchFamily="18" charset="0"/>
                <a:cs typeface="Times New Roman" panose="02020603050405020304" pitchFamily="18" charset="0"/>
              </a:rPr>
              <a:t> etc. </a:t>
            </a:r>
          </a:p>
          <a:p>
            <a:pPr lvl="0">
              <a:lnSpc>
                <a:spcPct val="150000"/>
              </a:lnSpc>
            </a:pPr>
            <a:r>
              <a:rPr lang="en-IN" sz="2000" dirty="0">
                <a:latin typeface="Times New Roman" panose="02020603050405020304" pitchFamily="18" charset="0"/>
                <a:cs typeface="Times New Roman" panose="02020603050405020304" pitchFamily="18" charset="0"/>
              </a:rPr>
              <a:t>External knowledge retrieval </a:t>
            </a:r>
          </a:p>
          <a:p>
            <a:pPr lvl="0">
              <a:lnSpc>
                <a:spcPct val="150000"/>
              </a:lnSpc>
            </a:pPr>
            <a:r>
              <a:rPr lang="en-IN" sz="2000" dirty="0">
                <a:latin typeface="Times New Roman" panose="02020603050405020304" pitchFamily="18" charset="0"/>
                <a:cs typeface="Times New Roman" panose="02020603050405020304" pitchFamily="18" charset="0"/>
              </a:rPr>
              <a:t>RAG/retrieval integration </a:t>
            </a:r>
          </a:p>
          <a:p>
            <a:pPr lvl="0">
              <a:lnSpc>
                <a:spcPct val="150000"/>
              </a:lnSpc>
            </a:pPr>
            <a:r>
              <a:rPr lang="en-IN" sz="2000" dirty="0">
                <a:latin typeface="Times New Roman" panose="02020603050405020304" pitchFamily="18" charset="0"/>
                <a:cs typeface="Times New Roman" panose="02020603050405020304" pitchFamily="18" charset="0"/>
              </a:rPr>
              <a:t>Source-aware response generation </a:t>
            </a:r>
          </a:p>
          <a:p>
            <a:pPr lvl="0">
              <a:lnSpc>
                <a:spcPct val="150000"/>
              </a:lnSpc>
            </a:pPr>
            <a:r>
              <a:rPr lang="en-IN" sz="2000" dirty="0">
                <a:latin typeface="Times New Roman" panose="02020603050405020304" pitchFamily="18" charset="0"/>
                <a:cs typeface="Times New Roman" panose="02020603050405020304" pitchFamily="18" charset="0"/>
              </a:rPr>
              <a:t>Contextual LLM reasoning</a:t>
            </a:r>
          </a:p>
          <a:p>
            <a:pPr>
              <a:lnSpc>
                <a:spcPct val="150000"/>
              </a:lnSpc>
            </a:pPr>
            <a:r>
              <a:rPr lang="en-IN" sz="2000" b="1" dirty="0">
                <a:latin typeface="Times New Roman" panose="02020603050405020304" pitchFamily="18" charset="0"/>
                <a:cs typeface="Times New Roman" panose="02020603050405020304" pitchFamily="18" charset="0"/>
              </a:rPr>
              <a:t>15.3 Architectural Benefits</a:t>
            </a:r>
          </a:p>
          <a:p>
            <a:pPr>
              <a:lnSpc>
                <a:spcPct val="150000"/>
              </a:lnSpc>
            </a:pPr>
            <a:r>
              <a:rPr lang="en-IN" sz="2000" dirty="0">
                <a:latin typeface="Times New Roman" panose="02020603050405020304" pitchFamily="18" charset="0"/>
                <a:cs typeface="Times New Roman" panose="02020603050405020304" pitchFamily="18" charset="0"/>
              </a:rPr>
              <a:t>The architecture maintains clear boundaries between:</a:t>
            </a:r>
          </a:p>
        </p:txBody>
      </p:sp>
    </p:spTree>
    <p:extLst>
      <p:ext uri="{BB962C8B-B14F-4D97-AF65-F5344CB8AC3E}">
        <p14:creationId xmlns:p14="http://schemas.microsoft.com/office/powerpoint/2010/main" val="38004691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42AB3-ABF0-D932-5508-F35047C0992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F16BC3C-09AF-3D2F-B6EA-C4E330B9267C}"/>
              </a:ext>
            </a:extLst>
          </p:cNvPr>
          <p:cNvSpPr txBox="1"/>
          <p:nvPr/>
        </p:nvSpPr>
        <p:spPr>
          <a:xfrm>
            <a:off x="594360" y="320040"/>
            <a:ext cx="184731" cy="507831"/>
          </a:xfrm>
          <a:prstGeom prst="rect">
            <a:avLst/>
          </a:prstGeom>
          <a:noFill/>
        </p:spPr>
        <p:txBody>
          <a:bodyPr wrap="none">
            <a:spAutoFit/>
          </a:bodyPr>
          <a:lstStyle/>
          <a:p>
            <a:pPr>
              <a:defRPr sz="2700"/>
            </a:pPr>
            <a:endParaRPr dirty="0"/>
          </a:p>
        </p:txBody>
      </p:sp>
      <p:sp>
        <p:nvSpPr>
          <p:cNvPr id="4" name="TextBox 3">
            <a:extLst>
              <a:ext uri="{FF2B5EF4-FFF2-40B4-BE49-F238E27FC236}">
                <a16:creationId xmlns:a16="http://schemas.microsoft.com/office/drawing/2014/main" id="{1CF79D10-2F51-A07C-57C5-3519EBCB241C}"/>
              </a:ext>
            </a:extLst>
          </p:cNvPr>
          <p:cNvSpPr txBox="1"/>
          <p:nvPr/>
        </p:nvSpPr>
        <p:spPr>
          <a:xfrm>
            <a:off x="686725" y="378296"/>
            <a:ext cx="10246746" cy="5115311"/>
          </a:xfrm>
          <a:prstGeom prst="rect">
            <a:avLst/>
          </a:prstGeom>
          <a:noFill/>
        </p:spPr>
        <p:txBody>
          <a:bodyPr wrap="square">
            <a:spAutoFit/>
          </a:bodyPr>
          <a:lstStyle/>
          <a:p>
            <a:pPr>
              <a:lnSpc>
                <a:spcPct val="150000"/>
              </a:lnSpc>
              <a:buNone/>
            </a:pPr>
            <a:r>
              <a:rPr lang="en-IN" sz="2000" dirty="0">
                <a:latin typeface="Times New Roman" panose="02020603050405020304" pitchFamily="18" charset="0"/>
                <a:cs typeface="Times New Roman" panose="02020603050405020304" pitchFamily="18" charset="0"/>
              </a:rPr>
              <a:t>This separation provides:</a:t>
            </a:r>
          </a:p>
          <a:p>
            <a:pPr marL="342900" lvl="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Maintainability</a:t>
            </a:r>
            <a:r>
              <a:rPr lang="en-IN" sz="2000" dirty="0">
                <a:latin typeface="Times New Roman" panose="02020603050405020304" pitchFamily="18" charset="0"/>
                <a:cs typeface="Times New Roman" panose="02020603050405020304" pitchFamily="18" charset="0"/>
              </a:rPr>
              <a:t> — individual components can be modified independently. </a:t>
            </a:r>
          </a:p>
          <a:p>
            <a:pPr marL="342900" lvl="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Testability</a:t>
            </a:r>
            <a:r>
              <a:rPr lang="en-IN" sz="2000" dirty="0">
                <a:latin typeface="Times New Roman" panose="02020603050405020304" pitchFamily="18" charset="0"/>
                <a:cs typeface="Times New Roman" panose="02020603050405020304" pitchFamily="18" charset="0"/>
              </a:rPr>
              <a:t> — agents, tools, APIs, and state management can be tested separately. </a:t>
            </a:r>
          </a:p>
          <a:p>
            <a:pPr marL="342900" lvl="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Extensibility</a:t>
            </a:r>
            <a:r>
              <a:rPr lang="en-IN" sz="2000" dirty="0">
                <a:latin typeface="Times New Roman" panose="02020603050405020304" pitchFamily="18" charset="0"/>
                <a:cs typeface="Times New Roman" panose="02020603050405020304" pitchFamily="18" charset="0"/>
              </a:rPr>
              <a:t> — new agents, tools, retrieval sources, or LLM providers can be added without redesigning the entire system. </a:t>
            </a:r>
          </a:p>
          <a:p>
            <a:pPr marL="342900" lvl="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Reliability</a:t>
            </a:r>
            <a:r>
              <a:rPr lang="en-IN" sz="2000" dirty="0">
                <a:latin typeface="Times New Roman" panose="02020603050405020304" pitchFamily="18" charset="0"/>
                <a:cs typeface="Times New Roman" panose="02020603050405020304" pitchFamily="18" charset="0"/>
              </a:rPr>
              <a:t> — fallback models and error-handling mechanisms allow the workflow to continue when external dependencies are unavailable. </a:t>
            </a:r>
          </a:p>
          <a:p>
            <a:pPr marL="342900" lvl="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Traceability</a:t>
            </a:r>
            <a:r>
              <a:rPr lang="en-IN" sz="2000" dirty="0">
                <a:latin typeface="Times New Roman" panose="02020603050405020304" pitchFamily="18" charset="0"/>
                <a:cs typeface="Times New Roman" panose="02020603050405020304" pitchFamily="18" charset="0"/>
              </a:rPr>
              <a:t> — source URLs and retrieved information can be carried through the workflow to the final response. </a:t>
            </a:r>
          </a:p>
          <a:p>
            <a:pPr marL="342900" lvl="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Provider independence</a:t>
            </a:r>
            <a:r>
              <a:rPr lang="en-IN" sz="2000" dirty="0">
                <a:latin typeface="Times New Roman" panose="02020603050405020304" pitchFamily="18" charset="0"/>
                <a:cs typeface="Times New Roman" panose="02020603050405020304" pitchFamily="18" charset="0"/>
              </a:rPr>
              <a:t> — the application can switch between </a:t>
            </a:r>
            <a:r>
              <a:rPr lang="en-IN" sz="2000" dirty="0" err="1">
                <a:latin typeface="Times New Roman" panose="02020603050405020304" pitchFamily="18" charset="0"/>
                <a:cs typeface="Times New Roman" panose="02020603050405020304" pitchFamily="18" charset="0"/>
              </a:rPr>
              <a:t>Groq</a:t>
            </a:r>
            <a:r>
              <a:rPr lang="en-IN" sz="2000" dirty="0">
                <a:latin typeface="Times New Roman" panose="02020603050405020304" pitchFamily="18" charset="0"/>
                <a:cs typeface="Times New Roman" panose="02020603050405020304" pitchFamily="18" charset="0"/>
              </a:rPr>
              <a:t>, OpenAI, or </a:t>
            </a:r>
            <a:r>
              <a:rPr lang="en-IN" sz="2000" dirty="0" err="1">
                <a:latin typeface="Times New Roman" panose="02020603050405020304" pitchFamily="18" charset="0"/>
                <a:cs typeface="Times New Roman" panose="02020603050405020304" pitchFamily="18" charset="0"/>
              </a:rPr>
              <a:t>DemoModel</a:t>
            </a:r>
            <a:r>
              <a:rPr lang="en-IN" sz="2000" dirty="0">
                <a:latin typeface="Times New Roman" panose="02020603050405020304" pitchFamily="18" charset="0"/>
                <a:cs typeface="Times New Roman" panose="02020603050405020304" pitchFamily="18" charset="0"/>
              </a:rPr>
              <a:t> through the abstraction layer.</a:t>
            </a:r>
          </a:p>
        </p:txBody>
      </p:sp>
    </p:spTree>
    <p:extLst>
      <p:ext uri="{BB962C8B-B14F-4D97-AF65-F5344CB8AC3E}">
        <p14:creationId xmlns:p14="http://schemas.microsoft.com/office/powerpoint/2010/main" val="41090073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E07A9-30AC-D035-080A-2240167A5DC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940750B-C17F-FE36-907E-0502395D11E8}"/>
              </a:ext>
            </a:extLst>
          </p:cNvPr>
          <p:cNvSpPr txBox="1"/>
          <p:nvPr/>
        </p:nvSpPr>
        <p:spPr>
          <a:xfrm>
            <a:off x="594360" y="320040"/>
            <a:ext cx="184731" cy="507831"/>
          </a:xfrm>
          <a:prstGeom prst="rect">
            <a:avLst/>
          </a:prstGeom>
          <a:noFill/>
        </p:spPr>
        <p:txBody>
          <a:bodyPr wrap="none">
            <a:spAutoFit/>
          </a:bodyPr>
          <a:lstStyle/>
          <a:p>
            <a:pPr>
              <a:defRPr sz="2700"/>
            </a:pPr>
            <a:endParaRPr dirty="0"/>
          </a:p>
        </p:txBody>
      </p:sp>
      <p:sp>
        <p:nvSpPr>
          <p:cNvPr id="4" name="TextBox 3">
            <a:extLst>
              <a:ext uri="{FF2B5EF4-FFF2-40B4-BE49-F238E27FC236}">
                <a16:creationId xmlns:a16="http://schemas.microsoft.com/office/drawing/2014/main" id="{44016589-75AB-189F-EC96-498F9A4EF56C}"/>
              </a:ext>
            </a:extLst>
          </p:cNvPr>
          <p:cNvSpPr txBox="1"/>
          <p:nvPr/>
        </p:nvSpPr>
        <p:spPr>
          <a:xfrm>
            <a:off x="1160205" y="797905"/>
            <a:ext cx="9832260" cy="2554545"/>
          </a:xfrm>
          <a:prstGeom prst="rect">
            <a:avLst/>
          </a:prstGeom>
          <a:noFill/>
        </p:spPr>
        <p:txBody>
          <a:bodyPr wrap="square">
            <a:spAutoFit/>
          </a:bodyPr>
          <a:lstStyle/>
          <a:p>
            <a:pPr algn="just"/>
            <a:r>
              <a:rPr lang="en-IN" sz="2000" dirty="0">
                <a:latin typeface="Times New Roman" panose="02020603050405020304" pitchFamily="18" charset="0"/>
                <a:cs typeface="Times New Roman" panose="02020603050405020304" pitchFamily="18" charset="0"/>
              </a:rPr>
              <a:t>Task 1 demonstrates how multiple specialized agents can collaborate through structured state and external tools to produce a consolidated company intelligence report. </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Task 2 demonstrates how memory, context resolution, retrieval, and source-aware generation enable a conversational knowledge experience. Together, the architecture establishes clear boundaries between the UI, API, orchestration, agents, state, retrieval, and LLM layers, making the system easier to demonstrate, maintain, test, and extend with additional agents, tools, knowledge sources, and model providers.</a:t>
            </a:r>
            <a:endParaRPr lang="en-IN" dirty="0"/>
          </a:p>
        </p:txBody>
      </p:sp>
    </p:spTree>
    <p:extLst>
      <p:ext uri="{BB962C8B-B14F-4D97-AF65-F5344CB8AC3E}">
        <p14:creationId xmlns:p14="http://schemas.microsoft.com/office/powerpoint/2010/main" val="12363247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B9A9B-1042-4BF5-E458-31BFBAD1714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44214E6-0A77-B1F8-AD86-A2F8B985E7AB}"/>
              </a:ext>
            </a:extLst>
          </p:cNvPr>
          <p:cNvSpPr txBox="1"/>
          <p:nvPr/>
        </p:nvSpPr>
        <p:spPr>
          <a:xfrm>
            <a:off x="594360" y="320040"/>
            <a:ext cx="184731" cy="507831"/>
          </a:xfrm>
          <a:prstGeom prst="rect">
            <a:avLst/>
          </a:prstGeom>
          <a:noFill/>
        </p:spPr>
        <p:txBody>
          <a:bodyPr wrap="none">
            <a:spAutoFit/>
          </a:bodyPr>
          <a:lstStyle/>
          <a:p>
            <a:pPr>
              <a:defRPr sz="2700"/>
            </a:pPr>
            <a:endParaRPr dirty="0"/>
          </a:p>
        </p:txBody>
      </p:sp>
      <p:sp>
        <p:nvSpPr>
          <p:cNvPr id="5" name="TextBox 4">
            <a:extLst>
              <a:ext uri="{FF2B5EF4-FFF2-40B4-BE49-F238E27FC236}">
                <a16:creationId xmlns:a16="http://schemas.microsoft.com/office/drawing/2014/main" id="{691D279F-73F6-A72D-2265-EE6F8259E550}"/>
              </a:ext>
            </a:extLst>
          </p:cNvPr>
          <p:cNvSpPr txBox="1"/>
          <p:nvPr/>
        </p:nvSpPr>
        <p:spPr>
          <a:xfrm>
            <a:off x="2949678" y="127264"/>
            <a:ext cx="60960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16. PROJECT EXECUTION STEPS</a:t>
            </a:r>
          </a:p>
        </p:txBody>
      </p:sp>
      <p:pic>
        <p:nvPicPr>
          <p:cNvPr id="7" name="Picture 6">
            <a:extLst>
              <a:ext uri="{FF2B5EF4-FFF2-40B4-BE49-F238E27FC236}">
                <a16:creationId xmlns:a16="http://schemas.microsoft.com/office/drawing/2014/main" id="{030DB003-1E37-303D-78F0-44E1391B9EB3}"/>
              </a:ext>
            </a:extLst>
          </p:cNvPr>
          <p:cNvPicPr>
            <a:picLocks noChangeAspect="1"/>
          </p:cNvPicPr>
          <p:nvPr/>
        </p:nvPicPr>
        <p:blipFill>
          <a:blip r:embed="rId2"/>
          <a:stretch>
            <a:fillRect/>
          </a:stretch>
        </p:blipFill>
        <p:spPr>
          <a:xfrm>
            <a:off x="1228077" y="757083"/>
            <a:ext cx="9735845" cy="4788311"/>
          </a:xfrm>
          <a:prstGeom prst="rect">
            <a:avLst/>
          </a:prstGeom>
        </p:spPr>
      </p:pic>
      <p:sp>
        <p:nvSpPr>
          <p:cNvPr id="8" name="Rectangle: Rounded Corners 7">
            <a:extLst>
              <a:ext uri="{FF2B5EF4-FFF2-40B4-BE49-F238E27FC236}">
                <a16:creationId xmlns:a16="http://schemas.microsoft.com/office/drawing/2014/main" id="{AF271508-4399-71AD-DB9A-45BBCD0DEE9D}"/>
              </a:ext>
            </a:extLst>
          </p:cNvPr>
          <p:cNvSpPr/>
          <p:nvPr/>
        </p:nvSpPr>
        <p:spPr>
          <a:xfrm>
            <a:off x="1381431" y="5733213"/>
            <a:ext cx="9429136" cy="9144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IN" b="1" dirty="0">
                <a:solidFill>
                  <a:srgbClr val="FF0000"/>
                </a:solidFill>
                <a:latin typeface="Times New Roman" panose="02020603050405020304" pitchFamily="18" charset="0"/>
                <a:cs typeface="Times New Roman" panose="02020603050405020304" pitchFamily="18" charset="0"/>
              </a:rPr>
              <a:t>Step1: </a:t>
            </a:r>
            <a:r>
              <a:rPr lang="en-IN" dirty="0">
                <a:solidFill>
                  <a:schemeClr val="tx1"/>
                </a:solidFill>
                <a:latin typeface="Times New Roman" panose="02020603050405020304" pitchFamily="18" charset="0"/>
                <a:cs typeface="Times New Roman" panose="02020603050405020304" pitchFamily="18" charset="0"/>
              </a:rPr>
              <a:t>The folder provided above contains the complete project implementation, including all relevant subfolders, source-code files, configuration files, dependencies, and supporting resources required to understand, run, and deploy the project.</a:t>
            </a:r>
          </a:p>
        </p:txBody>
      </p:sp>
    </p:spTree>
    <p:extLst>
      <p:ext uri="{BB962C8B-B14F-4D97-AF65-F5344CB8AC3E}">
        <p14:creationId xmlns:p14="http://schemas.microsoft.com/office/powerpoint/2010/main" val="34796881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6158C-B68F-DB45-1679-E8F21656DDB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6D007B0-4C63-E37D-7F6E-64CC42F1C703}"/>
              </a:ext>
            </a:extLst>
          </p:cNvPr>
          <p:cNvSpPr txBox="1"/>
          <p:nvPr/>
        </p:nvSpPr>
        <p:spPr>
          <a:xfrm>
            <a:off x="594360" y="320040"/>
            <a:ext cx="184731" cy="507831"/>
          </a:xfrm>
          <a:prstGeom prst="rect">
            <a:avLst/>
          </a:prstGeom>
          <a:noFill/>
        </p:spPr>
        <p:txBody>
          <a:bodyPr wrap="none">
            <a:spAutoFit/>
          </a:bodyPr>
          <a:lstStyle/>
          <a:p>
            <a:pPr>
              <a:defRPr sz="2700"/>
            </a:pPr>
            <a:endParaRPr dirty="0"/>
          </a:p>
        </p:txBody>
      </p:sp>
      <p:pic>
        <p:nvPicPr>
          <p:cNvPr id="4" name="Picture 3">
            <a:extLst>
              <a:ext uri="{FF2B5EF4-FFF2-40B4-BE49-F238E27FC236}">
                <a16:creationId xmlns:a16="http://schemas.microsoft.com/office/drawing/2014/main" id="{09FC8884-5F3B-2F93-9FD0-19D25A4F1D18}"/>
              </a:ext>
            </a:extLst>
          </p:cNvPr>
          <p:cNvPicPr>
            <a:picLocks noChangeAspect="1"/>
          </p:cNvPicPr>
          <p:nvPr/>
        </p:nvPicPr>
        <p:blipFill>
          <a:blip r:embed="rId2"/>
          <a:stretch>
            <a:fillRect/>
          </a:stretch>
        </p:blipFill>
        <p:spPr>
          <a:xfrm>
            <a:off x="1145657" y="245806"/>
            <a:ext cx="9527060" cy="5191434"/>
          </a:xfrm>
          <a:prstGeom prst="rect">
            <a:avLst/>
          </a:prstGeom>
        </p:spPr>
      </p:pic>
      <p:sp>
        <p:nvSpPr>
          <p:cNvPr id="5" name="Rectangle: Rounded Corners 4">
            <a:extLst>
              <a:ext uri="{FF2B5EF4-FFF2-40B4-BE49-F238E27FC236}">
                <a16:creationId xmlns:a16="http://schemas.microsoft.com/office/drawing/2014/main" id="{BC837C21-FEB7-402E-CF4D-9C8F5090C33F}"/>
              </a:ext>
            </a:extLst>
          </p:cNvPr>
          <p:cNvSpPr/>
          <p:nvPr/>
        </p:nvSpPr>
        <p:spPr>
          <a:xfrm>
            <a:off x="2158180" y="5697794"/>
            <a:ext cx="7502013" cy="9144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b="1" dirty="0">
                <a:solidFill>
                  <a:srgbClr val="FF0000"/>
                </a:solidFill>
                <a:latin typeface="Times New Roman" panose="02020603050405020304" pitchFamily="18" charset="0"/>
                <a:cs typeface="Times New Roman" panose="02020603050405020304" pitchFamily="18" charset="0"/>
              </a:rPr>
              <a:t>Step2: </a:t>
            </a:r>
            <a:r>
              <a:rPr lang="en-IN" dirty="0">
                <a:latin typeface="Times New Roman" panose="02020603050405020304" pitchFamily="18" charset="0"/>
                <a:cs typeface="Times New Roman" panose="02020603050405020304" pitchFamily="18" charset="0"/>
              </a:rPr>
              <a:t>Copy the project folder path from the File Explorer navigation bar </a:t>
            </a:r>
          </a:p>
        </p:txBody>
      </p:sp>
    </p:spTree>
    <p:extLst>
      <p:ext uri="{BB962C8B-B14F-4D97-AF65-F5344CB8AC3E}">
        <p14:creationId xmlns:p14="http://schemas.microsoft.com/office/powerpoint/2010/main" val="2794919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528AF-591B-76E0-CB55-5BBB1A5E471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EA26F14-062D-703A-DB2B-05BC582A9212}"/>
              </a:ext>
            </a:extLst>
          </p:cNvPr>
          <p:cNvSpPr txBox="1"/>
          <p:nvPr/>
        </p:nvSpPr>
        <p:spPr>
          <a:xfrm>
            <a:off x="594360" y="320040"/>
            <a:ext cx="184731" cy="507831"/>
          </a:xfrm>
          <a:prstGeom prst="rect">
            <a:avLst/>
          </a:prstGeom>
          <a:noFill/>
        </p:spPr>
        <p:txBody>
          <a:bodyPr wrap="none">
            <a:spAutoFit/>
          </a:bodyPr>
          <a:lstStyle/>
          <a:p>
            <a:pPr>
              <a:defRPr sz="2700"/>
            </a:pPr>
            <a:endParaRPr dirty="0"/>
          </a:p>
        </p:txBody>
      </p:sp>
      <p:pic>
        <p:nvPicPr>
          <p:cNvPr id="4" name="Picture 3">
            <a:extLst>
              <a:ext uri="{FF2B5EF4-FFF2-40B4-BE49-F238E27FC236}">
                <a16:creationId xmlns:a16="http://schemas.microsoft.com/office/drawing/2014/main" id="{1C5DE8C8-9F32-0568-FDDC-961CE46CA1D5}"/>
              </a:ext>
            </a:extLst>
          </p:cNvPr>
          <p:cNvPicPr>
            <a:picLocks noChangeAspect="1"/>
          </p:cNvPicPr>
          <p:nvPr/>
        </p:nvPicPr>
        <p:blipFill>
          <a:blip r:embed="rId2"/>
          <a:stretch>
            <a:fillRect/>
          </a:stretch>
        </p:blipFill>
        <p:spPr>
          <a:xfrm>
            <a:off x="686725" y="245806"/>
            <a:ext cx="10524132" cy="5289755"/>
          </a:xfrm>
          <a:prstGeom prst="rect">
            <a:avLst/>
          </a:prstGeom>
        </p:spPr>
      </p:pic>
      <p:sp>
        <p:nvSpPr>
          <p:cNvPr id="6" name="Rectangle: Rounded Corners 5">
            <a:extLst>
              <a:ext uri="{FF2B5EF4-FFF2-40B4-BE49-F238E27FC236}">
                <a16:creationId xmlns:a16="http://schemas.microsoft.com/office/drawing/2014/main" id="{88D902FF-3693-EFAF-06D3-2A0A1A7A9996}"/>
              </a:ext>
            </a:extLst>
          </p:cNvPr>
          <p:cNvSpPr/>
          <p:nvPr/>
        </p:nvSpPr>
        <p:spPr>
          <a:xfrm>
            <a:off x="2158180" y="5707626"/>
            <a:ext cx="7502013" cy="9144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b="1" dirty="0">
                <a:solidFill>
                  <a:srgbClr val="FF0000"/>
                </a:solidFill>
                <a:latin typeface="Times New Roman" panose="02020603050405020304" pitchFamily="18" charset="0"/>
                <a:cs typeface="Times New Roman" panose="02020603050405020304" pitchFamily="18" charset="0"/>
              </a:rPr>
              <a:t>Step3: </a:t>
            </a:r>
            <a:r>
              <a:rPr lang="en-IN" dirty="0">
                <a:latin typeface="Times New Roman" panose="02020603050405020304" pitchFamily="18" charset="0"/>
                <a:cs typeface="Times New Roman" panose="02020603050405020304" pitchFamily="18" charset="0"/>
              </a:rPr>
              <a:t>use it in the Command Prompt to navigate to the project directory for execution.</a:t>
            </a:r>
          </a:p>
        </p:txBody>
      </p:sp>
    </p:spTree>
    <p:extLst>
      <p:ext uri="{BB962C8B-B14F-4D97-AF65-F5344CB8AC3E}">
        <p14:creationId xmlns:p14="http://schemas.microsoft.com/office/powerpoint/2010/main" val="21894675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907B0-4E81-C9ED-F934-46514F20FDF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ADBADA6-00FB-1031-C161-A168BD53CFEB}"/>
              </a:ext>
            </a:extLst>
          </p:cNvPr>
          <p:cNvSpPr txBox="1"/>
          <p:nvPr/>
        </p:nvSpPr>
        <p:spPr>
          <a:xfrm>
            <a:off x="594360" y="320040"/>
            <a:ext cx="184731" cy="507831"/>
          </a:xfrm>
          <a:prstGeom prst="rect">
            <a:avLst/>
          </a:prstGeom>
          <a:noFill/>
        </p:spPr>
        <p:txBody>
          <a:bodyPr wrap="none">
            <a:spAutoFit/>
          </a:bodyPr>
          <a:lstStyle/>
          <a:p>
            <a:pPr>
              <a:defRPr sz="2700"/>
            </a:pPr>
            <a:endParaRPr dirty="0"/>
          </a:p>
        </p:txBody>
      </p:sp>
      <p:pic>
        <p:nvPicPr>
          <p:cNvPr id="4" name="Picture 3">
            <a:extLst>
              <a:ext uri="{FF2B5EF4-FFF2-40B4-BE49-F238E27FC236}">
                <a16:creationId xmlns:a16="http://schemas.microsoft.com/office/drawing/2014/main" id="{101D55BA-2F2E-C804-5907-940C1F3271AF}"/>
              </a:ext>
            </a:extLst>
          </p:cNvPr>
          <p:cNvPicPr>
            <a:picLocks noChangeAspect="1"/>
          </p:cNvPicPr>
          <p:nvPr/>
        </p:nvPicPr>
        <p:blipFill>
          <a:blip r:embed="rId2"/>
          <a:stretch>
            <a:fillRect/>
          </a:stretch>
        </p:blipFill>
        <p:spPr>
          <a:xfrm>
            <a:off x="1416914" y="491613"/>
            <a:ext cx="9358171" cy="4119715"/>
          </a:xfrm>
          <a:prstGeom prst="rect">
            <a:avLst/>
          </a:prstGeom>
        </p:spPr>
      </p:pic>
      <p:sp>
        <p:nvSpPr>
          <p:cNvPr id="6" name="Rectangle: Rounded Corners 5">
            <a:extLst>
              <a:ext uri="{FF2B5EF4-FFF2-40B4-BE49-F238E27FC236}">
                <a16:creationId xmlns:a16="http://schemas.microsoft.com/office/drawing/2014/main" id="{96968701-9B4F-DB31-F283-62DF63A82B06}"/>
              </a:ext>
            </a:extLst>
          </p:cNvPr>
          <p:cNvSpPr/>
          <p:nvPr/>
        </p:nvSpPr>
        <p:spPr>
          <a:xfrm>
            <a:off x="2158180" y="5707626"/>
            <a:ext cx="7502013" cy="9144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n-IN" b="1" dirty="0">
                <a:solidFill>
                  <a:srgbClr val="FF0000"/>
                </a:solidFill>
                <a:latin typeface="Times New Roman" panose="02020603050405020304" pitchFamily="18" charset="0"/>
                <a:cs typeface="Times New Roman" panose="02020603050405020304" pitchFamily="18" charset="0"/>
              </a:rPr>
              <a:t>Step4:</a:t>
            </a:r>
            <a:r>
              <a:rPr lang="en-IN" dirty="0">
                <a:latin typeface="Times New Roman" panose="02020603050405020304" pitchFamily="18" charset="0"/>
                <a:cs typeface="Times New Roman" panose="02020603050405020304" pitchFamily="18" charset="0"/>
              </a:rPr>
              <a:t>Open the Command Prompt in the project directory and run the following command to execute the project: “python main.py </a:t>
            </a:r>
            <a:r>
              <a:rPr lang="en-IN" dirty="0" err="1">
                <a:latin typeface="Times New Roman" panose="02020603050405020304" pitchFamily="18" charset="0"/>
                <a:cs typeface="Times New Roman" panose="02020603050405020304" pitchFamily="18" charset="0"/>
              </a:rPr>
              <a:t>ui</a:t>
            </a:r>
            <a:r>
              <a:rPr lang="en-IN"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83751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70183-EAB2-5D4E-DC5E-695D365C0CE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640DCF7-408F-49BB-5200-3E49250CB752}"/>
              </a:ext>
            </a:extLst>
          </p:cNvPr>
          <p:cNvSpPr txBox="1"/>
          <p:nvPr/>
        </p:nvSpPr>
        <p:spPr>
          <a:xfrm>
            <a:off x="594360" y="320040"/>
            <a:ext cx="184731" cy="507831"/>
          </a:xfrm>
          <a:prstGeom prst="rect">
            <a:avLst/>
          </a:prstGeom>
          <a:noFill/>
        </p:spPr>
        <p:txBody>
          <a:bodyPr wrap="none">
            <a:spAutoFit/>
          </a:bodyPr>
          <a:lstStyle/>
          <a:p>
            <a:pPr>
              <a:defRPr sz="2700"/>
            </a:pPr>
            <a:endParaRPr dirty="0"/>
          </a:p>
        </p:txBody>
      </p:sp>
      <p:pic>
        <p:nvPicPr>
          <p:cNvPr id="4" name="Picture 3">
            <a:extLst>
              <a:ext uri="{FF2B5EF4-FFF2-40B4-BE49-F238E27FC236}">
                <a16:creationId xmlns:a16="http://schemas.microsoft.com/office/drawing/2014/main" id="{E1BE2280-F43D-3B34-8B0A-E149CA655B47}"/>
              </a:ext>
            </a:extLst>
          </p:cNvPr>
          <p:cNvPicPr>
            <a:picLocks noChangeAspect="1"/>
          </p:cNvPicPr>
          <p:nvPr/>
        </p:nvPicPr>
        <p:blipFill>
          <a:blip r:embed="rId2"/>
          <a:stretch>
            <a:fillRect/>
          </a:stretch>
        </p:blipFill>
        <p:spPr>
          <a:xfrm>
            <a:off x="909484" y="320040"/>
            <a:ext cx="10373032" cy="4548468"/>
          </a:xfrm>
          <a:prstGeom prst="rect">
            <a:avLst/>
          </a:prstGeom>
        </p:spPr>
      </p:pic>
      <p:sp>
        <p:nvSpPr>
          <p:cNvPr id="6" name="Rectangle: Rounded Corners 5">
            <a:extLst>
              <a:ext uri="{FF2B5EF4-FFF2-40B4-BE49-F238E27FC236}">
                <a16:creationId xmlns:a16="http://schemas.microsoft.com/office/drawing/2014/main" id="{7475E7BB-5E42-1C01-03A4-C6A14EF14A95}"/>
              </a:ext>
            </a:extLst>
          </p:cNvPr>
          <p:cNvSpPr/>
          <p:nvPr/>
        </p:nvSpPr>
        <p:spPr>
          <a:xfrm>
            <a:off x="2158180" y="5697794"/>
            <a:ext cx="7502013" cy="9144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n-IN" b="1" dirty="0">
                <a:solidFill>
                  <a:srgbClr val="FF0000"/>
                </a:solidFill>
                <a:latin typeface="Times New Roman" panose="02020603050405020304" pitchFamily="18" charset="0"/>
                <a:cs typeface="Times New Roman" panose="02020603050405020304" pitchFamily="18" charset="0"/>
              </a:rPr>
              <a:t>Step5:Task1:</a:t>
            </a:r>
            <a:r>
              <a:rPr lang="en-IN" dirty="0"/>
              <a:t> </a:t>
            </a:r>
            <a:r>
              <a:rPr lang="en-IN" dirty="0">
                <a:latin typeface="Times New Roman" panose="02020603050405020304" pitchFamily="18" charset="0"/>
                <a:cs typeface="Times New Roman" panose="02020603050405020304" pitchFamily="18" charset="0"/>
              </a:rPr>
              <a:t>After running the command in the Command Prompt, the project's user interface will open. Enter the </a:t>
            </a:r>
            <a:r>
              <a:rPr lang="en-IN" b="1" dirty="0">
                <a:latin typeface="Times New Roman" panose="02020603050405020304" pitchFamily="18" charset="0"/>
                <a:cs typeface="Times New Roman" panose="02020603050405020304" pitchFamily="18" charset="0"/>
              </a:rPr>
              <a:t>company name</a:t>
            </a:r>
            <a:r>
              <a:rPr lang="en-IN" dirty="0">
                <a:latin typeface="Times New Roman" panose="02020603050405020304" pitchFamily="18" charset="0"/>
                <a:cs typeface="Times New Roman" panose="02020603050405020304" pitchFamily="18" charset="0"/>
              </a:rPr>
              <a:t> in the provided input field to generate the final output or result.</a:t>
            </a:r>
          </a:p>
        </p:txBody>
      </p:sp>
    </p:spTree>
    <p:extLst>
      <p:ext uri="{BB962C8B-B14F-4D97-AF65-F5344CB8AC3E}">
        <p14:creationId xmlns:p14="http://schemas.microsoft.com/office/powerpoint/2010/main" val="29187479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96A1C-61A3-4C5B-75BE-3095EE88D00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9635D7-1227-D1D4-96F6-DBB995CCA31B}"/>
              </a:ext>
            </a:extLst>
          </p:cNvPr>
          <p:cNvSpPr txBox="1"/>
          <p:nvPr/>
        </p:nvSpPr>
        <p:spPr>
          <a:xfrm>
            <a:off x="594360" y="320040"/>
            <a:ext cx="184731" cy="507831"/>
          </a:xfrm>
          <a:prstGeom prst="rect">
            <a:avLst/>
          </a:prstGeom>
          <a:noFill/>
        </p:spPr>
        <p:txBody>
          <a:bodyPr wrap="none">
            <a:spAutoFit/>
          </a:bodyPr>
          <a:lstStyle/>
          <a:p>
            <a:pPr>
              <a:defRPr sz="2700"/>
            </a:pPr>
            <a:endParaRPr dirty="0"/>
          </a:p>
        </p:txBody>
      </p:sp>
      <p:pic>
        <p:nvPicPr>
          <p:cNvPr id="4" name="Picture 3">
            <a:extLst>
              <a:ext uri="{FF2B5EF4-FFF2-40B4-BE49-F238E27FC236}">
                <a16:creationId xmlns:a16="http://schemas.microsoft.com/office/drawing/2014/main" id="{C9BEFFB6-1311-D665-4F90-6657FECD8A6E}"/>
              </a:ext>
            </a:extLst>
          </p:cNvPr>
          <p:cNvPicPr>
            <a:picLocks noChangeAspect="1"/>
          </p:cNvPicPr>
          <p:nvPr/>
        </p:nvPicPr>
        <p:blipFill>
          <a:blip r:embed="rId2"/>
          <a:stretch>
            <a:fillRect/>
          </a:stretch>
        </p:blipFill>
        <p:spPr>
          <a:xfrm>
            <a:off x="1185279" y="104877"/>
            <a:ext cx="10412361" cy="5155381"/>
          </a:xfrm>
          <a:prstGeom prst="rect">
            <a:avLst/>
          </a:prstGeom>
        </p:spPr>
      </p:pic>
      <p:sp>
        <p:nvSpPr>
          <p:cNvPr id="6" name="Rectangle: Rounded Corners 5">
            <a:extLst>
              <a:ext uri="{FF2B5EF4-FFF2-40B4-BE49-F238E27FC236}">
                <a16:creationId xmlns:a16="http://schemas.microsoft.com/office/drawing/2014/main" id="{7315EE21-330C-8EE5-DD16-6811E5B58C17}"/>
              </a:ext>
            </a:extLst>
          </p:cNvPr>
          <p:cNvSpPr/>
          <p:nvPr/>
        </p:nvSpPr>
        <p:spPr>
          <a:xfrm>
            <a:off x="2158180" y="5697794"/>
            <a:ext cx="7502013" cy="91440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n-IN" b="1" dirty="0">
                <a:solidFill>
                  <a:srgbClr val="FF0000"/>
                </a:solidFill>
                <a:latin typeface="Times New Roman" panose="02020603050405020304" pitchFamily="18" charset="0"/>
                <a:cs typeface="Times New Roman" panose="02020603050405020304" pitchFamily="18" charset="0"/>
              </a:rPr>
              <a:t>Step6:</a:t>
            </a:r>
            <a:r>
              <a:rPr lang="en-IN" b="1" dirty="0">
                <a:solidFill>
                  <a:srgbClr val="FF0000"/>
                </a:solidFill>
              </a:rPr>
              <a:t>Task:2</a:t>
            </a:r>
            <a:r>
              <a:rPr lang="en-IN" dirty="0"/>
              <a:t> </a:t>
            </a:r>
            <a:r>
              <a:rPr lang="en-IN" dirty="0">
                <a:latin typeface="Times New Roman" panose="02020603050405020304" pitchFamily="18" charset="0"/>
                <a:cs typeface="Times New Roman" panose="02020603050405020304" pitchFamily="18" charset="0"/>
              </a:rPr>
              <a:t>Enter your question in the </a:t>
            </a:r>
            <a:r>
              <a:rPr lang="en-IN" b="1" dirty="0">
                <a:latin typeface="Times New Roman" panose="02020603050405020304" pitchFamily="18" charset="0"/>
                <a:cs typeface="Times New Roman" panose="02020603050405020304" pitchFamily="18" charset="0"/>
              </a:rPr>
              <a:t>Conversational Knowledge Bot</a:t>
            </a:r>
            <a:r>
              <a:rPr lang="en-IN" dirty="0">
                <a:latin typeface="Times New Roman" panose="02020603050405020304" pitchFamily="18" charset="0"/>
                <a:cs typeface="Times New Roman" panose="02020603050405020304" pitchFamily="18" charset="0"/>
              </a:rPr>
              <a:t> input field. The bot will process the question and display the relevant answer for the user to view.</a:t>
            </a:r>
          </a:p>
        </p:txBody>
      </p:sp>
    </p:spTree>
    <p:extLst>
      <p:ext uri="{BB962C8B-B14F-4D97-AF65-F5344CB8AC3E}">
        <p14:creationId xmlns:p14="http://schemas.microsoft.com/office/powerpoint/2010/main" val="21731029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41DC9-8BCB-7C68-DEBF-EC712BCFCC6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1954D7E-EB6B-C2C4-20A2-9FC7685E25C5}"/>
              </a:ext>
            </a:extLst>
          </p:cNvPr>
          <p:cNvSpPr txBox="1"/>
          <p:nvPr/>
        </p:nvSpPr>
        <p:spPr>
          <a:xfrm>
            <a:off x="594360" y="320040"/>
            <a:ext cx="184731" cy="507831"/>
          </a:xfrm>
          <a:prstGeom prst="rect">
            <a:avLst/>
          </a:prstGeom>
          <a:noFill/>
        </p:spPr>
        <p:txBody>
          <a:bodyPr wrap="none">
            <a:spAutoFit/>
          </a:bodyPr>
          <a:lstStyle/>
          <a:p>
            <a:pPr>
              <a:defRPr sz="2700"/>
            </a:pPr>
            <a:endParaRPr dirty="0"/>
          </a:p>
        </p:txBody>
      </p:sp>
      <p:sp>
        <p:nvSpPr>
          <p:cNvPr id="4" name="TextBox 3">
            <a:extLst>
              <a:ext uri="{FF2B5EF4-FFF2-40B4-BE49-F238E27FC236}">
                <a16:creationId xmlns:a16="http://schemas.microsoft.com/office/drawing/2014/main" id="{C1008296-BB7D-F9CA-CA91-7DE0D626141B}"/>
              </a:ext>
            </a:extLst>
          </p:cNvPr>
          <p:cNvSpPr txBox="1"/>
          <p:nvPr/>
        </p:nvSpPr>
        <p:spPr>
          <a:xfrm>
            <a:off x="936408" y="1920792"/>
            <a:ext cx="10469012" cy="3268652"/>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MCP-based tool ecosystem:</a:t>
            </a:r>
            <a:r>
              <a:rPr lang="en-IN" sz="2000" dirty="0">
                <a:latin typeface="Times New Roman" panose="02020603050405020304" pitchFamily="18" charset="0"/>
                <a:cs typeface="Times New Roman" panose="02020603050405020304" pitchFamily="18" charset="0"/>
              </a:rPr>
              <a:t> standardized and scalable tool integration. </a:t>
            </a:r>
          </a:p>
          <a:p>
            <a:pPr marL="342900" lvl="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Advanced RAG + reranking: </a:t>
            </a:r>
            <a:r>
              <a:rPr lang="en-IN" sz="2000" dirty="0">
                <a:latin typeface="Times New Roman" panose="02020603050405020304" pitchFamily="18" charset="0"/>
                <a:cs typeface="Times New Roman" panose="02020603050405020304" pitchFamily="18" charset="0"/>
              </a:rPr>
              <a:t>better retrieval accuracy and grounding. </a:t>
            </a:r>
          </a:p>
          <a:p>
            <a:pPr marL="342900" lvl="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Competitor &amp; Financial Intelligence Agents:</a:t>
            </a:r>
            <a:r>
              <a:rPr lang="en-IN" sz="2000" dirty="0">
                <a:latin typeface="Times New Roman" panose="02020603050405020304" pitchFamily="18" charset="0"/>
                <a:cs typeface="Times New Roman" panose="02020603050405020304" pitchFamily="18" charset="0"/>
              </a:rPr>
              <a:t> expands the platform beyond basic company research. </a:t>
            </a:r>
          </a:p>
          <a:p>
            <a:pPr marL="342900" lvl="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LLM evaluation + observability:</a:t>
            </a:r>
            <a:r>
              <a:rPr lang="en-IN" sz="2000" dirty="0">
                <a:latin typeface="Times New Roman" panose="02020603050405020304" pitchFamily="18" charset="0"/>
                <a:cs typeface="Times New Roman" panose="02020603050405020304" pitchFamily="18" charset="0"/>
              </a:rPr>
              <a:t> measures hallucination, relevance, latency, and reliability. </a:t>
            </a:r>
          </a:p>
          <a:p>
            <a:pPr marL="342900" lvl="0" indent="-34290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Persistent memory + scheduled intelligence reports: </a:t>
            </a:r>
            <a:r>
              <a:rPr lang="en-IN" sz="2000" dirty="0">
                <a:latin typeface="Times New Roman" panose="02020603050405020304" pitchFamily="18" charset="0"/>
                <a:cs typeface="Times New Roman" panose="02020603050405020304" pitchFamily="18" charset="0"/>
              </a:rPr>
              <a:t>moves the system toward a production-grade enterprise platform.</a:t>
            </a:r>
          </a:p>
        </p:txBody>
      </p:sp>
      <p:sp>
        <p:nvSpPr>
          <p:cNvPr id="6" name="TextBox 5">
            <a:extLst>
              <a:ext uri="{FF2B5EF4-FFF2-40B4-BE49-F238E27FC236}">
                <a16:creationId xmlns:a16="http://schemas.microsoft.com/office/drawing/2014/main" id="{6F92F5FE-1D1F-5237-3803-42321F048072}"/>
              </a:ext>
            </a:extLst>
          </p:cNvPr>
          <p:cNvSpPr txBox="1"/>
          <p:nvPr/>
        </p:nvSpPr>
        <p:spPr>
          <a:xfrm>
            <a:off x="936408" y="643205"/>
            <a:ext cx="60960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17. FUTURE EXTENSIONS</a:t>
            </a:r>
          </a:p>
        </p:txBody>
      </p:sp>
    </p:spTree>
    <p:extLst>
      <p:ext uri="{BB962C8B-B14F-4D97-AF65-F5344CB8AC3E}">
        <p14:creationId xmlns:p14="http://schemas.microsoft.com/office/powerpoint/2010/main" val="16847497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hank You Sign Stock Photos, Images and Backgrounds for Free Download">
            <a:extLst>
              <a:ext uri="{FF2B5EF4-FFF2-40B4-BE49-F238E27FC236}">
                <a16:creationId xmlns:a16="http://schemas.microsoft.com/office/drawing/2014/main" id="{F796D681-1701-A3E2-0DDF-F2930F1B34D1}"/>
              </a:ext>
            </a:extLst>
          </p:cNvPr>
          <p:cNvPicPr>
            <a:picLocks noChangeAspect="1"/>
          </p:cNvPicPr>
          <p:nvPr/>
        </p:nvPicPr>
        <p:blipFill>
          <a:blip r:embed="rId2"/>
          <a:stretch>
            <a:fillRect/>
          </a:stretch>
        </p:blipFill>
        <p:spPr>
          <a:xfrm>
            <a:off x="1415845" y="803787"/>
            <a:ext cx="9222658" cy="5250426"/>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38CB2-42EE-4467-41E0-73CFDAD29D2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62EC139-E3EE-91B5-F3F9-D91093C4BDCA}"/>
              </a:ext>
            </a:extLst>
          </p:cNvPr>
          <p:cNvSpPr txBox="1"/>
          <p:nvPr/>
        </p:nvSpPr>
        <p:spPr>
          <a:xfrm>
            <a:off x="594360" y="320040"/>
            <a:ext cx="184731" cy="507831"/>
          </a:xfrm>
          <a:prstGeom prst="rect">
            <a:avLst/>
          </a:prstGeom>
          <a:noFill/>
        </p:spPr>
        <p:txBody>
          <a:bodyPr wrap="none">
            <a:spAutoFit/>
          </a:bodyPr>
          <a:lstStyle/>
          <a:p>
            <a:pPr>
              <a:defRPr sz="2700"/>
            </a:pPr>
            <a:endParaRPr dirty="0"/>
          </a:p>
        </p:txBody>
      </p:sp>
      <p:sp>
        <p:nvSpPr>
          <p:cNvPr id="5" name="TextBox 4">
            <a:extLst>
              <a:ext uri="{FF2B5EF4-FFF2-40B4-BE49-F238E27FC236}">
                <a16:creationId xmlns:a16="http://schemas.microsoft.com/office/drawing/2014/main" id="{BD20D2DE-F874-7CC2-082B-D0EFE3ADE099}"/>
              </a:ext>
            </a:extLst>
          </p:cNvPr>
          <p:cNvSpPr txBox="1"/>
          <p:nvPr/>
        </p:nvSpPr>
        <p:spPr>
          <a:xfrm>
            <a:off x="779091" y="1804446"/>
            <a:ext cx="10754148" cy="3349956"/>
          </a:xfrm>
          <a:prstGeom prst="rect">
            <a:avLst/>
          </a:prstGeom>
          <a:noFill/>
        </p:spPr>
        <p:txBody>
          <a:bodyPr wrap="square">
            <a:spAutoFit/>
          </a:bodyPr>
          <a:lstStyle/>
          <a:p>
            <a:pPr>
              <a:lnSpc>
                <a:spcPct val="150000"/>
              </a:lnSpc>
            </a:pPr>
            <a:r>
              <a:rPr lang="en-IN" sz="2400" b="1" dirty="0">
                <a:latin typeface="Times New Roman" panose="02020603050405020304" pitchFamily="18" charset="0"/>
                <a:cs typeface="Times New Roman" panose="02020603050405020304" pitchFamily="18" charset="0"/>
              </a:rPr>
              <a:t>NAME: </a:t>
            </a:r>
            <a:r>
              <a:rPr lang="en-IN" sz="2400" b="1" dirty="0" err="1">
                <a:solidFill>
                  <a:srgbClr val="0070C0"/>
                </a:solidFill>
                <a:latin typeface="Times New Roman" panose="02020603050405020304" pitchFamily="18" charset="0"/>
                <a:cs typeface="Times New Roman" panose="02020603050405020304" pitchFamily="18" charset="0"/>
              </a:rPr>
              <a:t>Sriramanani</a:t>
            </a:r>
            <a:r>
              <a:rPr lang="en-IN" sz="2400" b="1" dirty="0">
                <a:solidFill>
                  <a:srgbClr val="0070C0"/>
                </a:solidFill>
                <a:latin typeface="Times New Roman" panose="02020603050405020304" pitchFamily="18" charset="0"/>
                <a:cs typeface="Times New Roman" panose="02020603050405020304" pitchFamily="18" charset="0"/>
              </a:rPr>
              <a:t> Srirama </a:t>
            </a:r>
            <a:r>
              <a:rPr lang="en-IN" sz="2400" b="1" dirty="0" err="1">
                <a:solidFill>
                  <a:srgbClr val="0070C0"/>
                </a:solidFill>
                <a:latin typeface="Times New Roman" panose="02020603050405020304" pitchFamily="18" charset="0"/>
                <a:cs typeface="Times New Roman" panose="02020603050405020304" pitchFamily="18" charset="0"/>
              </a:rPr>
              <a:t>Pichaiah</a:t>
            </a:r>
            <a:r>
              <a:rPr lang="en-IN" sz="2400" b="1" dirty="0">
                <a:solidFill>
                  <a:srgbClr val="0070C0"/>
                </a:solidFill>
                <a:latin typeface="Times New Roman" panose="02020603050405020304" pitchFamily="18" charset="0"/>
                <a:cs typeface="Times New Roman" panose="02020603050405020304" pitchFamily="18" charset="0"/>
              </a:rPr>
              <a:t> Chowdary</a:t>
            </a:r>
          </a:p>
          <a:p>
            <a:pPr>
              <a:lnSpc>
                <a:spcPct val="150000"/>
              </a:lnSpc>
            </a:pPr>
            <a:r>
              <a:rPr lang="en-IN" sz="2400" b="1" dirty="0">
                <a:latin typeface="Times New Roman" panose="02020603050405020304" pitchFamily="18" charset="0"/>
                <a:cs typeface="Times New Roman" panose="02020603050405020304" pitchFamily="18" charset="0"/>
              </a:rPr>
              <a:t>MAILID: </a:t>
            </a:r>
            <a:r>
              <a:rPr lang="en-IN" sz="2400" b="1" dirty="0">
                <a:solidFill>
                  <a:srgbClr val="0070C0"/>
                </a:solidFill>
                <a:latin typeface="Times New Roman" panose="02020603050405020304" pitchFamily="18" charset="0"/>
                <a:cs typeface="Times New Roman" panose="02020603050405020304" pitchFamily="18" charset="0"/>
              </a:rPr>
              <a:t>ssrpchowdary05@gmail.com</a:t>
            </a:r>
          </a:p>
          <a:p>
            <a:pPr>
              <a:lnSpc>
                <a:spcPct val="150000"/>
              </a:lnSpc>
            </a:pPr>
            <a:r>
              <a:rPr lang="en-IN" sz="2400" b="1" dirty="0">
                <a:latin typeface="Times New Roman" panose="02020603050405020304" pitchFamily="18" charset="0"/>
                <a:cs typeface="Times New Roman" panose="02020603050405020304" pitchFamily="18" charset="0"/>
              </a:rPr>
              <a:t>MOBILE: </a:t>
            </a:r>
            <a:r>
              <a:rPr lang="en-IN" sz="2400" b="1" dirty="0">
                <a:solidFill>
                  <a:srgbClr val="0070C0"/>
                </a:solidFill>
                <a:latin typeface="Times New Roman" panose="02020603050405020304" pitchFamily="18" charset="0"/>
                <a:cs typeface="Times New Roman" panose="02020603050405020304" pitchFamily="18" charset="0"/>
              </a:rPr>
              <a:t>+91 9284152112</a:t>
            </a:r>
          </a:p>
          <a:p>
            <a:pPr>
              <a:lnSpc>
                <a:spcPct val="150000"/>
              </a:lnSpc>
            </a:pPr>
            <a:r>
              <a:rPr lang="en-IN" sz="2400" b="1" dirty="0">
                <a:latin typeface="Times New Roman" panose="02020603050405020304" pitchFamily="18" charset="0"/>
                <a:cs typeface="Times New Roman" panose="02020603050405020304" pitchFamily="18" charset="0"/>
              </a:rPr>
              <a:t>LINKEDIN: </a:t>
            </a:r>
            <a:r>
              <a:rPr lang="en-IN" sz="2400" b="1" dirty="0">
                <a:solidFill>
                  <a:srgbClr val="0070C0"/>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https://www.linkedin.com/in/sriramanani-srirama-pichaiah-</a:t>
            </a:r>
            <a:r>
              <a:rPr lang="en-IN" sz="2400" b="1" dirty="0">
                <a:solidFill>
                  <a:srgbClr val="0070C0"/>
                </a:solidFill>
                <a:latin typeface="Times New Roman" panose="02020603050405020304" pitchFamily="18" charset="0"/>
                <a:cs typeface="Times New Roman" panose="02020603050405020304" pitchFamily="18" charset="0"/>
              </a:rPr>
              <a:t>         chowdary-7a7369220/</a:t>
            </a:r>
          </a:p>
          <a:p>
            <a:pPr>
              <a:lnSpc>
                <a:spcPct val="150000"/>
              </a:lnSpc>
            </a:pPr>
            <a:r>
              <a:rPr lang="en-IN" sz="2400" b="1" dirty="0">
                <a:latin typeface="Times New Roman" panose="02020603050405020304" pitchFamily="18" charset="0"/>
                <a:cs typeface="Times New Roman" panose="02020603050405020304" pitchFamily="18" charset="0"/>
              </a:rPr>
              <a:t>GITHUB: </a:t>
            </a:r>
            <a:r>
              <a:rPr lang="en-IN" sz="2400" b="1" dirty="0">
                <a:solidFill>
                  <a:srgbClr val="0070C0"/>
                </a:solidFill>
                <a:latin typeface="Times New Roman" panose="02020603050405020304" pitchFamily="18" charset="0"/>
                <a:cs typeface="Times New Roman" panose="02020603050405020304" pitchFamily="18" charset="0"/>
              </a:rPr>
              <a:t>https://github.com/Sri143s</a:t>
            </a:r>
          </a:p>
        </p:txBody>
      </p:sp>
    </p:spTree>
    <p:extLst>
      <p:ext uri="{BB962C8B-B14F-4D97-AF65-F5344CB8AC3E}">
        <p14:creationId xmlns:p14="http://schemas.microsoft.com/office/powerpoint/2010/main" val="15142976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222</TotalTime>
  <Words>2463</Words>
  <Application>Microsoft Office PowerPoint</Application>
  <PresentationFormat>Widescreen</PresentationFormat>
  <Paragraphs>280</Paragraphs>
  <Slides>37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Algerian</vt:lpstr>
      <vt:lpstr>Arial</vt:lpstr>
      <vt:lpstr>Arial Rounded MT Bold</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Ssrp Chowdary</cp:lastModifiedBy>
  <cp:revision>16</cp:revision>
  <dcterms:created xsi:type="dcterms:W3CDTF">2013-01-27T09:14:16Z</dcterms:created>
  <dcterms:modified xsi:type="dcterms:W3CDTF">2026-10-05T09:59:41Z</dcterms:modified>
  <cp:category/>
</cp:coreProperties>
</file>